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69" r:id="rId3"/>
    <p:sldId id="270" r:id="rId4"/>
    <p:sldId id="257" r:id="rId5"/>
    <p:sldId id="258" r:id="rId6"/>
    <p:sldId id="259" r:id="rId7"/>
    <p:sldId id="260" r:id="rId8"/>
    <p:sldId id="261" r:id="rId9"/>
    <p:sldId id="262" r:id="rId10"/>
    <p:sldId id="273" r:id="rId11"/>
    <p:sldId id="263" r:id="rId12"/>
    <p:sldId id="264" r:id="rId13"/>
    <p:sldId id="265" r:id="rId14"/>
    <p:sldId id="266" r:id="rId15"/>
    <p:sldId id="267" r:id="rId16"/>
    <p:sldId id="268"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194EBE-2744-41E5-9A2F-D5F99F998429}" type="datetimeFigureOut">
              <a:rPr lang="en-US" smtClean="0"/>
              <a:t>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4E4014-60CE-4852-B510-61601D9AD502}" type="slidenum">
              <a:rPr lang="en-US" smtClean="0"/>
              <a:t>‹#›</a:t>
            </a:fld>
            <a:endParaRPr lang="en-US"/>
          </a:p>
        </p:txBody>
      </p:sp>
    </p:spTree>
    <p:extLst>
      <p:ext uri="{BB962C8B-B14F-4D97-AF65-F5344CB8AC3E}">
        <p14:creationId xmlns:p14="http://schemas.microsoft.com/office/powerpoint/2010/main" val="18882343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4E4014-60CE-4852-B510-61601D9AD502}" type="slidenum">
              <a:rPr lang="en-US" smtClean="0"/>
              <a:t>9</a:t>
            </a:fld>
            <a:endParaRPr lang="en-US"/>
          </a:p>
        </p:txBody>
      </p:sp>
    </p:spTree>
    <p:extLst>
      <p:ext uri="{BB962C8B-B14F-4D97-AF65-F5344CB8AC3E}">
        <p14:creationId xmlns:p14="http://schemas.microsoft.com/office/powerpoint/2010/main" val="35106143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A50F3-6C1E-DE66-80CC-80A39C428C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AC4156-8285-0B5D-2AD0-CFF468831D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D86D9F-C7D3-F371-41DF-E3EC512E8FCF}"/>
              </a:ext>
            </a:extLst>
          </p:cNvPr>
          <p:cNvSpPr>
            <a:spLocks noGrp="1"/>
          </p:cNvSpPr>
          <p:nvPr>
            <p:ph type="dt" sz="half" idx="10"/>
          </p:nvPr>
        </p:nvSpPr>
        <p:spPr/>
        <p:txBody>
          <a:bodyPr/>
          <a:lstStyle/>
          <a:p>
            <a:fld id="{C2639C87-65C1-4284-9B33-BA24AE20EF5F}" type="datetimeFigureOut">
              <a:rPr lang="en-US" smtClean="0"/>
              <a:t>1/1/2026</a:t>
            </a:fld>
            <a:endParaRPr lang="en-US"/>
          </a:p>
        </p:txBody>
      </p:sp>
      <p:sp>
        <p:nvSpPr>
          <p:cNvPr id="5" name="Footer Placeholder 4">
            <a:extLst>
              <a:ext uri="{FF2B5EF4-FFF2-40B4-BE49-F238E27FC236}">
                <a16:creationId xmlns:a16="http://schemas.microsoft.com/office/drawing/2014/main" id="{8644230F-FE1B-3B94-46EC-86AB1F1BA3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A5A7DF-454C-6277-095D-1B46C4CA3612}"/>
              </a:ext>
            </a:extLst>
          </p:cNvPr>
          <p:cNvSpPr>
            <a:spLocks noGrp="1"/>
          </p:cNvSpPr>
          <p:nvPr>
            <p:ph type="sldNum" sz="quarter" idx="12"/>
          </p:nvPr>
        </p:nvSpPr>
        <p:spPr/>
        <p:txBody>
          <a:bodyPr/>
          <a:lstStyle/>
          <a:p>
            <a:fld id="{47214C41-F3CD-45D8-83B0-9B85C9820FEB}" type="slidenum">
              <a:rPr lang="en-US" smtClean="0"/>
              <a:t>‹#›</a:t>
            </a:fld>
            <a:endParaRPr lang="en-US"/>
          </a:p>
        </p:txBody>
      </p:sp>
    </p:spTree>
    <p:extLst>
      <p:ext uri="{BB962C8B-B14F-4D97-AF65-F5344CB8AC3E}">
        <p14:creationId xmlns:p14="http://schemas.microsoft.com/office/powerpoint/2010/main" val="40993537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EDA1D-5FBC-350C-0F36-C997C8A2FD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152E1C5-55E6-D26B-28C3-3B6D65AD56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2A1465-86A1-D19B-4DA0-0A8D302D09FD}"/>
              </a:ext>
            </a:extLst>
          </p:cNvPr>
          <p:cNvSpPr>
            <a:spLocks noGrp="1"/>
          </p:cNvSpPr>
          <p:nvPr>
            <p:ph type="dt" sz="half" idx="10"/>
          </p:nvPr>
        </p:nvSpPr>
        <p:spPr/>
        <p:txBody>
          <a:bodyPr/>
          <a:lstStyle/>
          <a:p>
            <a:fld id="{C2639C87-65C1-4284-9B33-BA24AE20EF5F}" type="datetimeFigureOut">
              <a:rPr lang="en-US" smtClean="0"/>
              <a:t>1/1/2026</a:t>
            </a:fld>
            <a:endParaRPr lang="en-US"/>
          </a:p>
        </p:txBody>
      </p:sp>
      <p:sp>
        <p:nvSpPr>
          <p:cNvPr id="5" name="Footer Placeholder 4">
            <a:extLst>
              <a:ext uri="{FF2B5EF4-FFF2-40B4-BE49-F238E27FC236}">
                <a16:creationId xmlns:a16="http://schemas.microsoft.com/office/drawing/2014/main" id="{9B293F15-94CB-D7CC-DA77-B272F31176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D97A87-DD28-B44C-072D-F8309C67CBAC}"/>
              </a:ext>
            </a:extLst>
          </p:cNvPr>
          <p:cNvSpPr>
            <a:spLocks noGrp="1"/>
          </p:cNvSpPr>
          <p:nvPr>
            <p:ph type="sldNum" sz="quarter" idx="12"/>
          </p:nvPr>
        </p:nvSpPr>
        <p:spPr/>
        <p:txBody>
          <a:bodyPr/>
          <a:lstStyle/>
          <a:p>
            <a:fld id="{47214C41-F3CD-45D8-83B0-9B85C9820FEB}" type="slidenum">
              <a:rPr lang="en-US" smtClean="0"/>
              <a:t>‹#›</a:t>
            </a:fld>
            <a:endParaRPr lang="en-US"/>
          </a:p>
        </p:txBody>
      </p:sp>
    </p:spTree>
    <p:extLst>
      <p:ext uri="{BB962C8B-B14F-4D97-AF65-F5344CB8AC3E}">
        <p14:creationId xmlns:p14="http://schemas.microsoft.com/office/powerpoint/2010/main" val="1577593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EFEAE-BA0E-BEB3-2B3E-FC7FA89AD7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367F508-0BC7-84F5-3FCE-6FAE0C450FB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0E753A-F0EE-07B1-41CA-98A94BF9369A}"/>
              </a:ext>
            </a:extLst>
          </p:cNvPr>
          <p:cNvSpPr>
            <a:spLocks noGrp="1"/>
          </p:cNvSpPr>
          <p:nvPr>
            <p:ph type="dt" sz="half" idx="10"/>
          </p:nvPr>
        </p:nvSpPr>
        <p:spPr/>
        <p:txBody>
          <a:bodyPr/>
          <a:lstStyle/>
          <a:p>
            <a:fld id="{C2639C87-65C1-4284-9B33-BA24AE20EF5F}" type="datetimeFigureOut">
              <a:rPr lang="en-US" smtClean="0"/>
              <a:t>1/1/2026</a:t>
            </a:fld>
            <a:endParaRPr lang="en-US"/>
          </a:p>
        </p:txBody>
      </p:sp>
      <p:sp>
        <p:nvSpPr>
          <p:cNvPr id="5" name="Footer Placeholder 4">
            <a:extLst>
              <a:ext uri="{FF2B5EF4-FFF2-40B4-BE49-F238E27FC236}">
                <a16:creationId xmlns:a16="http://schemas.microsoft.com/office/drawing/2014/main" id="{2B00907E-0118-32ED-E974-1E64E6271A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EFC7B2-E86E-3E9C-2BFA-2FCDAD88E342}"/>
              </a:ext>
            </a:extLst>
          </p:cNvPr>
          <p:cNvSpPr>
            <a:spLocks noGrp="1"/>
          </p:cNvSpPr>
          <p:nvPr>
            <p:ph type="sldNum" sz="quarter" idx="12"/>
          </p:nvPr>
        </p:nvSpPr>
        <p:spPr/>
        <p:txBody>
          <a:bodyPr/>
          <a:lstStyle/>
          <a:p>
            <a:fld id="{47214C41-F3CD-45D8-83B0-9B85C9820FEB}" type="slidenum">
              <a:rPr lang="en-US" smtClean="0"/>
              <a:t>‹#›</a:t>
            </a:fld>
            <a:endParaRPr lang="en-US"/>
          </a:p>
        </p:txBody>
      </p:sp>
    </p:spTree>
    <p:extLst>
      <p:ext uri="{BB962C8B-B14F-4D97-AF65-F5344CB8AC3E}">
        <p14:creationId xmlns:p14="http://schemas.microsoft.com/office/powerpoint/2010/main" val="23196802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B75F1-2D91-81AF-21A8-B1703BA3EC1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C50F9B-8345-C89E-DBCD-109953901B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8EC7621-06B8-8644-0FDD-1C83EF34B2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7B1B533-114F-0F9E-2C5D-74EE896EB5C6}"/>
              </a:ext>
            </a:extLst>
          </p:cNvPr>
          <p:cNvSpPr>
            <a:spLocks noGrp="1"/>
          </p:cNvSpPr>
          <p:nvPr>
            <p:ph type="dt" sz="half" idx="10"/>
          </p:nvPr>
        </p:nvSpPr>
        <p:spPr/>
        <p:txBody>
          <a:bodyPr/>
          <a:lstStyle/>
          <a:p>
            <a:fld id="{C2639C87-65C1-4284-9B33-BA24AE20EF5F}" type="datetimeFigureOut">
              <a:rPr lang="en-US" smtClean="0"/>
              <a:t>1/1/2026</a:t>
            </a:fld>
            <a:endParaRPr lang="en-US"/>
          </a:p>
        </p:txBody>
      </p:sp>
      <p:sp>
        <p:nvSpPr>
          <p:cNvPr id="6" name="Footer Placeholder 5">
            <a:extLst>
              <a:ext uri="{FF2B5EF4-FFF2-40B4-BE49-F238E27FC236}">
                <a16:creationId xmlns:a16="http://schemas.microsoft.com/office/drawing/2014/main" id="{94E62C6C-5E45-EB63-1D69-CAFA9D22A5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A2FF50-75A8-1B97-7A9A-4EAA39B71823}"/>
              </a:ext>
            </a:extLst>
          </p:cNvPr>
          <p:cNvSpPr>
            <a:spLocks noGrp="1"/>
          </p:cNvSpPr>
          <p:nvPr>
            <p:ph type="sldNum" sz="quarter" idx="12"/>
          </p:nvPr>
        </p:nvSpPr>
        <p:spPr/>
        <p:txBody>
          <a:bodyPr/>
          <a:lstStyle/>
          <a:p>
            <a:fld id="{47214C41-F3CD-45D8-83B0-9B85C9820FEB}" type="slidenum">
              <a:rPr lang="en-US" smtClean="0"/>
              <a:t>‹#›</a:t>
            </a:fld>
            <a:endParaRPr lang="en-US"/>
          </a:p>
        </p:txBody>
      </p:sp>
    </p:spTree>
    <p:extLst>
      <p:ext uri="{BB962C8B-B14F-4D97-AF65-F5344CB8AC3E}">
        <p14:creationId xmlns:p14="http://schemas.microsoft.com/office/powerpoint/2010/main" val="2981301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51103-84B5-EEA9-59B0-372729DDE4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D89CD81-2593-9EA1-85E6-32B070B74D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D3FA80-A2C1-35C8-6773-EC712EF76B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F8D74A-BA80-0CF5-DA11-10989078DF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F25D6D-6DDE-A122-917F-4F88C91D64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87297F-CC4F-0D2A-04A2-808A86E50207}"/>
              </a:ext>
            </a:extLst>
          </p:cNvPr>
          <p:cNvSpPr>
            <a:spLocks noGrp="1"/>
          </p:cNvSpPr>
          <p:nvPr>
            <p:ph type="dt" sz="half" idx="10"/>
          </p:nvPr>
        </p:nvSpPr>
        <p:spPr/>
        <p:txBody>
          <a:bodyPr/>
          <a:lstStyle/>
          <a:p>
            <a:fld id="{C2639C87-65C1-4284-9B33-BA24AE20EF5F}" type="datetimeFigureOut">
              <a:rPr lang="en-US" smtClean="0"/>
              <a:t>1/1/2026</a:t>
            </a:fld>
            <a:endParaRPr lang="en-US"/>
          </a:p>
        </p:txBody>
      </p:sp>
      <p:sp>
        <p:nvSpPr>
          <p:cNvPr id="8" name="Footer Placeholder 7">
            <a:extLst>
              <a:ext uri="{FF2B5EF4-FFF2-40B4-BE49-F238E27FC236}">
                <a16:creationId xmlns:a16="http://schemas.microsoft.com/office/drawing/2014/main" id="{C07902D7-7479-BFF3-8F37-181BDE23940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F58CC1-4A9A-8C9F-C48E-A25142FD0B55}"/>
              </a:ext>
            </a:extLst>
          </p:cNvPr>
          <p:cNvSpPr>
            <a:spLocks noGrp="1"/>
          </p:cNvSpPr>
          <p:nvPr>
            <p:ph type="sldNum" sz="quarter" idx="12"/>
          </p:nvPr>
        </p:nvSpPr>
        <p:spPr/>
        <p:txBody>
          <a:bodyPr/>
          <a:lstStyle/>
          <a:p>
            <a:fld id="{47214C41-F3CD-45D8-83B0-9B85C9820FEB}" type="slidenum">
              <a:rPr lang="en-US" smtClean="0"/>
              <a:t>‹#›</a:t>
            </a:fld>
            <a:endParaRPr lang="en-US"/>
          </a:p>
        </p:txBody>
      </p:sp>
    </p:spTree>
    <p:extLst>
      <p:ext uri="{BB962C8B-B14F-4D97-AF65-F5344CB8AC3E}">
        <p14:creationId xmlns:p14="http://schemas.microsoft.com/office/powerpoint/2010/main" val="2251217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79003-69AE-5007-1074-160D42E0911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7EF622E-0525-AF87-359A-6B0C31C19C49}"/>
              </a:ext>
            </a:extLst>
          </p:cNvPr>
          <p:cNvSpPr>
            <a:spLocks noGrp="1"/>
          </p:cNvSpPr>
          <p:nvPr>
            <p:ph type="dt" sz="half" idx="10"/>
          </p:nvPr>
        </p:nvSpPr>
        <p:spPr/>
        <p:txBody>
          <a:bodyPr/>
          <a:lstStyle/>
          <a:p>
            <a:fld id="{C2639C87-65C1-4284-9B33-BA24AE20EF5F}" type="datetimeFigureOut">
              <a:rPr lang="en-US" smtClean="0"/>
              <a:t>1/1/2026</a:t>
            </a:fld>
            <a:endParaRPr lang="en-US"/>
          </a:p>
        </p:txBody>
      </p:sp>
      <p:sp>
        <p:nvSpPr>
          <p:cNvPr id="4" name="Footer Placeholder 3">
            <a:extLst>
              <a:ext uri="{FF2B5EF4-FFF2-40B4-BE49-F238E27FC236}">
                <a16:creationId xmlns:a16="http://schemas.microsoft.com/office/drawing/2014/main" id="{9305300D-F481-12DB-FD13-1A807C96683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73FAA0-58DA-2467-7860-F7FD0C3DE73B}"/>
              </a:ext>
            </a:extLst>
          </p:cNvPr>
          <p:cNvSpPr>
            <a:spLocks noGrp="1"/>
          </p:cNvSpPr>
          <p:nvPr>
            <p:ph type="sldNum" sz="quarter" idx="12"/>
          </p:nvPr>
        </p:nvSpPr>
        <p:spPr/>
        <p:txBody>
          <a:bodyPr/>
          <a:lstStyle/>
          <a:p>
            <a:fld id="{47214C41-F3CD-45D8-83B0-9B85C9820FEB}" type="slidenum">
              <a:rPr lang="en-US" smtClean="0"/>
              <a:t>‹#›</a:t>
            </a:fld>
            <a:endParaRPr lang="en-US"/>
          </a:p>
        </p:txBody>
      </p:sp>
    </p:spTree>
    <p:extLst>
      <p:ext uri="{BB962C8B-B14F-4D97-AF65-F5344CB8AC3E}">
        <p14:creationId xmlns:p14="http://schemas.microsoft.com/office/powerpoint/2010/main" val="1786017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4725EA-ECE6-1E21-9043-CE7E7E662CB4}"/>
              </a:ext>
            </a:extLst>
          </p:cNvPr>
          <p:cNvSpPr>
            <a:spLocks noGrp="1"/>
          </p:cNvSpPr>
          <p:nvPr>
            <p:ph type="dt" sz="half" idx="10"/>
          </p:nvPr>
        </p:nvSpPr>
        <p:spPr/>
        <p:txBody>
          <a:bodyPr/>
          <a:lstStyle/>
          <a:p>
            <a:fld id="{C2639C87-65C1-4284-9B33-BA24AE20EF5F}" type="datetimeFigureOut">
              <a:rPr lang="en-US" smtClean="0"/>
              <a:t>1/1/2026</a:t>
            </a:fld>
            <a:endParaRPr lang="en-US"/>
          </a:p>
        </p:txBody>
      </p:sp>
      <p:sp>
        <p:nvSpPr>
          <p:cNvPr id="3" name="Footer Placeholder 2">
            <a:extLst>
              <a:ext uri="{FF2B5EF4-FFF2-40B4-BE49-F238E27FC236}">
                <a16:creationId xmlns:a16="http://schemas.microsoft.com/office/drawing/2014/main" id="{B150ABDE-C57B-8763-E657-F1D53E39546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872CDE-43CB-E475-865C-F0E0A6C35821}"/>
              </a:ext>
            </a:extLst>
          </p:cNvPr>
          <p:cNvSpPr>
            <a:spLocks noGrp="1"/>
          </p:cNvSpPr>
          <p:nvPr>
            <p:ph type="sldNum" sz="quarter" idx="12"/>
          </p:nvPr>
        </p:nvSpPr>
        <p:spPr/>
        <p:txBody>
          <a:bodyPr/>
          <a:lstStyle/>
          <a:p>
            <a:fld id="{47214C41-F3CD-45D8-83B0-9B85C9820FEB}" type="slidenum">
              <a:rPr lang="en-US" smtClean="0"/>
              <a:t>‹#›</a:t>
            </a:fld>
            <a:endParaRPr lang="en-US"/>
          </a:p>
        </p:txBody>
      </p:sp>
    </p:spTree>
    <p:extLst>
      <p:ext uri="{BB962C8B-B14F-4D97-AF65-F5344CB8AC3E}">
        <p14:creationId xmlns:p14="http://schemas.microsoft.com/office/powerpoint/2010/main" val="22027479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2FAE9-C904-752E-2345-F65CA0823C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22D3481-0017-DEF6-F0A7-0801C0396B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3DAE406-2E14-CB13-AD86-6549296E3A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207D95-1C63-A360-5367-A412FDAA7AB4}"/>
              </a:ext>
            </a:extLst>
          </p:cNvPr>
          <p:cNvSpPr>
            <a:spLocks noGrp="1"/>
          </p:cNvSpPr>
          <p:nvPr>
            <p:ph type="dt" sz="half" idx="10"/>
          </p:nvPr>
        </p:nvSpPr>
        <p:spPr/>
        <p:txBody>
          <a:bodyPr/>
          <a:lstStyle/>
          <a:p>
            <a:fld id="{C2639C87-65C1-4284-9B33-BA24AE20EF5F}" type="datetimeFigureOut">
              <a:rPr lang="en-US" smtClean="0"/>
              <a:t>1/1/2026</a:t>
            </a:fld>
            <a:endParaRPr lang="en-US"/>
          </a:p>
        </p:txBody>
      </p:sp>
      <p:sp>
        <p:nvSpPr>
          <p:cNvPr id="6" name="Footer Placeholder 5">
            <a:extLst>
              <a:ext uri="{FF2B5EF4-FFF2-40B4-BE49-F238E27FC236}">
                <a16:creationId xmlns:a16="http://schemas.microsoft.com/office/drawing/2014/main" id="{77BC7309-5AF9-7425-7628-7DF2EB1235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79BC48-D6E6-A013-FA7E-62583E38E5AF}"/>
              </a:ext>
            </a:extLst>
          </p:cNvPr>
          <p:cNvSpPr>
            <a:spLocks noGrp="1"/>
          </p:cNvSpPr>
          <p:nvPr>
            <p:ph type="sldNum" sz="quarter" idx="12"/>
          </p:nvPr>
        </p:nvSpPr>
        <p:spPr/>
        <p:txBody>
          <a:bodyPr/>
          <a:lstStyle/>
          <a:p>
            <a:fld id="{47214C41-F3CD-45D8-83B0-9B85C9820FEB}" type="slidenum">
              <a:rPr lang="en-US" smtClean="0"/>
              <a:t>‹#›</a:t>
            </a:fld>
            <a:endParaRPr lang="en-US"/>
          </a:p>
        </p:txBody>
      </p:sp>
    </p:spTree>
    <p:extLst>
      <p:ext uri="{BB962C8B-B14F-4D97-AF65-F5344CB8AC3E}">
        <p14:creationId xmlns:p14="http://schemas.microsoft.com/office/powerpoint/2010/main" val="415504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47D68-7075-0717-9C09-B39FBF6C30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BCBA06-5521-29A9-0A24-B386D3074C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EF8A4E-845A-AEEF-CA8D-DF0D8187A9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414650-AA85-9479-1327-C523900B6B23}"/>
              </a:ext>
            </a:extLst>
          </p:cNvPr>
          <p:cNvSpPr>
            <a:spLocks noGrp="1"/>
          </p:cNvSpPr>
          <p:nvPr>
            <p:ph type="dt" sz="half" idx="10"/>
          </p:nvPr>
        </p:nvSpPr>
        <p:spPr/>
        <p:txBody>
          <a:bodyPr/>
          <a:lstStyle/>
          <a:p>
            <a:fld id="{C2639C87-65C1-4284-9B33-BA24AE20EF5F}" type="datetimeFigureOut">
              <a:rPr lang="en-US" smtClean="0"/>
              <a:t>1/1/2026</a:t>
            </a:fld>
            <a:endParaRPr lang="en-US"/>
          </a:p>
        </p:txBody>
      </p:sp>
      <p:sp>
        <p:nvSpPr>
          <p:cNvPr id="6" name="Footer Placeholder 5">
            <a:extLst>
              <a:ext uri="{FF2B5EF4-FFF2-40B4-BE49-F238E27FC236}">
                <a16:creationId xmlns:a16="http://schemas.microsoft.com/office/drawing/2014/main" id="{5455F4C0-5774-B061-E2F4-C9B8E93ED2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0862B1-59DC-0AF2-B085-A68CC92E9905}"/>
              </a:ext>
            </a:extLst>
          </p:cNvPr>
          <p:cNvSpPr>
            <a:spLocks noGrp="1"/>
          </p:cNvSpPr>
          <p:nvPr>
            <p:ph type="sldNum" sz="quarter" idx="12"/>
          </p:nvPr>
        </p:nvSpPr>
        <p:spPr/>
        <p:txBody>
          <a:bodyPr/>
          <a:lstStyle/>
          <a:p>
            <a:fld id="{47214C41-F3CD-45D8-83B0-9B85C9820FEB}" type="slidenum">
              <a:rPr lang="en-US" smtClean="0"/>
              <a:t>‹#›</a:t>
            </a:fld>
            <a:endParaRPr lang="en-US"/>
          </a:p>
        </p:txBody>
      </p:sp>
    </p:spTree>
    <p:extLst>
      <p:ext uri="{BB962C8B-B14F-4D97-AF65-F5344CB8AC3E}">
        <p14:creationId xmlns:p14="http://schemas.microsoft.com/office/powerpoint/2010/main" val="429216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0DA38-88A2-0490-FE58-D26BE3FB29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91EC64-C8FC-721E-AB51-46EA35D0A0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9B4964-C525-38B6-8AF6-9FD15210F53D}"/>
              </a:ext>
            </a:extLst>
          </p:cNvPr>
          <p:cNvSpPr>
            <a:spLocks noGrp="1"/>
          </p:cNvSpPr>
          <p:nvPr>
            <p:ph type="dt" sz="half" idx="10"/>
          </p:nvPr>
        </p:nvSpPr>
        <p:spPr/>
        <p:txBody>
          <a:bodyPr/>
          <a:lstStyle/>
          <a:p>
            <a:fld id="{C2639C87-65C1-4284-9B33-BA24AE20EF5F}" type="datetimeFigureOut">
              <a:rPr lang="en-US" smtClean="0"/>
              <a:t>1/1/2026</a:t>
            </a:fld>
            <a:endParaRPr lang="en-US"/>
          </a:p>
        </p:txBody>
      </p:sp>
      <p:sp>
        <p:nvSpPr>
          <p:cNvPr id="5" name="Footer Placeholder 4">
            <a:extLst>
              <a:ext uri="{FF2B5EF4-FFF2-40B4-BE49-F238E27FC236}">
                <a16:creationId xmlns:a16="http://schemas.microsoft.com/office/drawing/2014/main" id="{EB356418-6C21-1B58-21A8-1CA0BB8A7E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25C1D4-4920-1557-D1A0-16E3A8505423}"/>
              </a:ext>
            </a:extLst>
          </p:cNvPr>
          <p:cNvSpPr>
            <a:spLocks noGrp="1"/>
          </p:cNvSpPr>
          <p:nvPr>
            <p:ph type="sldNum" sz="quarter" idx="12"/>
          </p:nvPr>
        </p:nvSpPr>
        <p:spPr/>
        <p:txBody>
          <a:bodyPr/>
          <a:lstStyle/>
          <a:p>
            <a:fld id="{47214C41-F3CD-45D8-83B0-9B85C9820FEB}" type="slidenum">
              <a:rPr lang="en-US" smtClean="0"/>
              <a:t>‹#›</a:t>
            </a:fld>
            <a:endParaRPr lang="en-US"/>
          </a:p>
        </p:txBody>
      </p:sp>
    </p:spTree>
    <p:extLst>
      <p:ext uri="{BB962C8B-B14F-4D97-AF65-F5344CB8AC3E}">
        <p14:creationId xmlns:p14="http://schemas.microsoft.com/office/powerpoint/2010/main" val="30061540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D9299A-7C04-E3D9-7908-BD1B8EAA6B6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A50DB2-4285-B134-CCA7-8EAE4126D5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4C0C5F-3A45-2974-D13E-610C7648B223}"/>
              </a:ext>
            </a:extLst>
          </p:cNvPr>
          <p:cNvSpPr>
            <a:spLocks noGrp="1"/>
          </p:cNvSpPr>
          <p:nvPr>
            <p:ph type="dt" sz="half" idx="10"/>
          </p:nvPr>
        </p:nvSpPr>
        <p:spPr/>
        <p:txBody>
          <a:bodyPr/>
          <a:lstStyle/>
          <a:p>
            <a:fld id="{C2639C87-65C1-4284-9B33-BA24AE20EF5F}" type="datetimeFigureOut">
              <a:rPr lang="en-US" smtClean="0"/>
              <a:t>1/1/2026</a:t>
            </a:fld>
            <a:endParaRPr lang="en-US"/>
          </a:p>
        </p:txBody>
      </p:sp>
      <p:sp>
        <p:nvSpPr>
          <p:cNvPr id="5" name="Footer Placeholder 4">
            <a:extLst>
              <a:ext uri="{FF2B5EF4-FFF2-40B4-BE49-F238E27FC236}">
                <a16:creationId xmlns:a16="http://schemas.microsoft.com/office/drawing/2014/main" id="{F9E81E0F-9AA5-03C1-E65F-3F5DFCB9F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336EFF-90A4-0BBE-1D9D-EC2665A7EDD8}"/>
              </a:ext>
            </a:extLst>
          </p:cNvPr>
          <p:cNvSpPr>
            <a:spLocks noGrp="1"/>
          </p:cNvSpPr>
          <p:nvPr>
            <p:ph type="sldNum" sz="quarter" idx="12"/>
          </p:nvPr>
        </p:nvSpPr>
        <p:spPr/>
        <p:txBody>
          <a:bodyPr/>
          <a:lstStyle/>
          <a:p>
            <a:fld id="{47214C41-F3CD-45D8-83B0-9B85C9820FEB}" type="slidenum">
              <a:rPr lang="en-US" smtClean="0"/>
              <a:t>‹#›</a:t>
            </a:fld>
            <a:endParaRPr lang="en-US"/>
          </a:p>
        </p:txBody>
      </p:sp>
    </p:spTree>
    <p:extLst>
      <p:ext uri="{BB962C8B-B14F-4D97-AF65-F5344CB8AC3E}">
        <p14:creationId xmlns:p14="http://schemas.microsoft.com/office/powerpoint/2010/main" val="3738476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Gray">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EBFDB5-A7B5-215F-3927-F44450969F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AF510B-9887-6E46-93A3-43EB8B590A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D7E22A-A318-3A7C-2F50-A69A435D65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639C87-65C1-4284-9B33-BA24AE20EF5F}" type="datetimeFigureOut">
              <a:rPr lang="en-US" smtClean="0"/>
              <a:t>1/1/2026</a:t>
            </a:fld>
            <a:endParaRPr lang="en-US"/>
          </a:p>
        </p:txBody>
      </p:sp>
      <p:sp>
        <p:nvSpPr>
          <p:cNvPr id="5" name="Footer Placeholder 4">
            <a:extLst>
              <a:ext uri="{FF2B5EF4-FFF2-40B4-BE49-F238E27FC236}">
                <a16:creationId xmlns:a16="http://schemas.microsoft.com/office/drawing/2014/main" id="{3904F3FD-F8ED-40E7-2BBF-04AA32F8F8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40747BE-F31A-AF78-39B5-A72A87E696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214C41-F3CD-45D8-83B0-9B85C9820FEB}" type="slidenum">
              <a:rPr lang="en-US" smtClean="0"/>
              <a:t>‹#›</a:t>
            </a:fld>
            <a:endParaRPr lang="en-US"/>
          </a:p>
        </p:txBody>
      </p:sp>
    </p:spTree>
    <p:extLst>
      <p:ext uri="{BB962C8B-B14F-4D97-AF65-F5344CB8AC3E}">
        <p14:creationId xmlns:p14="http://schemas.microsoft.com/office/powerpoint/2010/main" val="15934698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CE527E-3E8F-6ACC-02AB-FAFC865382DD}"/>
              </a:ext>
            </a:extLst>
          </p:cNvPr>
          <p:cNvSpPr txBox="1"/>
          <p:nvPr/>
        </p:nvSpPr>
        <p:spPr>
          <a:xfrm>
            <a:off x="366279" y="227828"/>
            <a:ext cx="6094268" cy="6370975"/>
          </a:xfrm>
          <a:prstGeom prst="rect">
            <a:avLst/>
          </a:prstGeom>
          <a:noFill/>
        </p:spPr>
        <p:txBody>
          <a:bodyPr wrap="square">
            <a:spAutoFit/>
          </a:bodyPr>
          <a:lstStyle/>
          <a:p>
            <a:r>
              <a:rPr lang="en-US" sz="2400" b="1" u="sng" dirty="0">
                <a:effectLst/>
                <a:latin typeface="Perpetua Titling MT" panose="02020502060505020804" pitchFamily="18" charset="0"/>
              </a:rPr>
              <a:t>Advanced Statistics Project:</a:t>
            </a:r>
          </a:p>
          <a:p>
            <a:endParaRPr lang="en-US" sz="2800" b="1" u="sng" dirty="0">
              <a:solidFill>
                <a:srgbClr val="990000"/>
              </a:solidFill>
              <a:latin typeface="Perpetua Titling MT" panose="02020502060505020804" pitchFamily="18" charset="0"/>
            </a:endParaRPr>
          </a:p>
          <a:p>
            <a:r>
              <a:rPr lang="en-US" sz="2800" b="1" u="sng" dirty="0">
                <a:solidFill>
                  <a:srgbClr val="990000"/>
                </a:solidFill>
                <a:effectLst/>
                <a:latin typeface="Perpetua Titling MT" panose="02020502060505020804" pitchFamily="18" charset="0"/>
              </a:rPr>
              <a:t> “Demographic and Clinical Predictors of OCD Severity </a:t>
            </a:r>
            <a:r>
              <a:rPr lang="en-US" sz="2800" b="1" u="sng" dirty="0">
                <a:solidFill>
                  <a:srgbClr val="990000"/>
                </a:solidFill>
                <a:latin typeface="Perpetua Titling MT" panose="02020502060505020804" pitchFamily="18" charset="0"/>
              </a:rPr>
              <a:t>.</a:t>
            </a:r>
            <a:r>
              <a:rPr lang="en-US" sz="2800" b="1" u="sng" dirty="0">
                <a:solidFill>
                  <a:srgbClr val="990000"/>
                </a:solidFill>
                <a:effectLst/>
                <a:latin typeface="Perpetua Titling MT" panose="02020502060505020804" pitchFamily="18" charset="0"/>
              </a:rPr>
              <a:t>”</a:t>
            </a:r>
          </a:p>
          <a:p>
            <a:endParaRPr lang="en-US" sz="2800" b="1" u="sng" dirty="0">
              <a:solidFill>
                <a:srgbClr val="990000"/>
              </a:solidFill>
              <a:latin typeface="Perpetua Titling MT" panose="02020502060505020804" pitchFamily="18" charset="0"/>
            </a:endParaRPr>
          </a:p>
          <a:p>
            <a:endParaRPr lang="en-US" sz="2800" u="sng" dirty="0">
              <a:solidFill>
                <a:srgbClr val="990000"/>
              </a:solidFill>
              <a:effectLst/>
              <a:latin typeface="Microsoft Himalaya" panose="01010100010101010101" pitchFamily="2" charset="0"/>
              <a:ea typeface="Microsoft Himalaya" panose="01010100010101010101" pitchFamily="2" charset="0"/>
              <a:cs typeface="Microsoft Himalaya" panose="01010100010101010101" pitchFamily="2" charset="0"/>
            </a:endParaRPr>
          </a:p>
          <a:p>
            <a:r>
              <a:rPr lang="en-US" sz="2800" b="1" u="sng" dirty="0">
                <a:latin typeface="Microsoft Himalaya" panose="01010100010101010101" pitchFamily="2" charset="0"/>
                <a:ea typeface="Microsoft Himalaya" panose="01010100010101010101" pitchFamily="2" charset="0"/>
                <a:cs typeface="Microsoft Himalaya" panose="01010100010101010101" pitchFamily="2" charset="0"/>
              </a:rPr>
              <a:t>INSTRUCTED By </a:t>
            </a:r>
            <a:r>
              <a:rPr lang="en-US" sz="2800" dirty="0">
                <a:latin typeface="Microsoft Himalaya" panose="01010100010101010101" pitchFamily="2" charset="0"/>
                <a:ea typeface="Microsoft Himalaya" panose="01010100010101010101" pitchFamily="2" charset="0"/>
                <a:cs typeface="Microsoft Himalaya" panose="01010100010101010101" pitchFamily="2" charset="0"/>
              </a:rPr>
              <a:t>:   </a:t>
            </a:r>
            <a:r>
              <a:rPr lang="en-US" sz="2800" dirty="0">
                <a:solidFill>
                  <a:srgbClr val="990000"/>
                </a:solidFill>
                <a:effectLst/>
                <a:latin typeface="Microsoft Himalaya" panose="01010100010101010101" pitchFamily="2" charset="0"/>
                <a:ea typeface="Microsoft Himalaya" panose="01010100010101010101" pitchFamily="2" charset="0"/>
                <a:cs typeface="Microsoft Himalaya" panose="01010100010101010101" pitchFamily="2" charset="0"/>
              </a:rPr>
              <a:t>Dr. Syed Faisal Bukhari Associate </a:t>
            </a:r>
            <a:r>
              <a:rPr lang="en-US" sz="2800" dirty="0">
                <a:effectLst/>
                <a:latin typeface="Microsoft Himalaya" panose="01010100010101010101" pitchFamily="2" charset="0"/>
                <a:ea typeface="Microsoft Himalaya" panose="01010100010101010101" pitchFamily="2" charset="0"/>
                <a:cs typeface="Microsoft Himalaya" panose="01010100010101010101" pitchFamily="2" charset="0"/>
              </a:rPr>
              <a:t>Professor Department of Data Science</a:t>
            </a:r>
          </a:p>
          <a:p>
            <a:r>
              <a:rPr lang="en-US" sz="2800" b="1" u="sng" dirty="0">
                <a:effectLst/>
                <a:latin typeface="Microsoft Himalaya" panose="01010100010101010101" pitchFamily="2" charset="0"/>
                <a:ea typeface="Microsoft Himalaya" panose="01010100010101010101" pitchFamily="2" charset="0"/>
                <a:cs typeface="Microsoft Himalaya" panose="01010100010101010101" pitchFamily="2" charset="0"/>
              </a:rPr>
              <a:t>Group Members:</a:t>
            </a:r>
          </a:p>
          <a:p>
            <a:r>
              <a:rPr lang="en-US" sz="2800" dirty="0">
                <a:effectLst/>
                <a:latin typeface="Microsoft Himalaya" panose="01010100010101010101" pitchFamily="2" charset="0"/>
                <a:ea typeface="Microsoft Himalaya" panose="01010100010101010101" pitchFamily="2" charset="0"/>
                <a:cs typeface="Microsoft Himalaya" panose="01010100010101010101" pitchFamily="2" charset="0"/>
              </a:rPr>
              <a:t> 1. </a:t>
            </a:r>
            <a:r>
              <a:rPr lang="en-US" sz="2800" dirty="0">
                <a:latin typeface="Microsoft Himalaya" panose="01010100010101010101" pitchFamily="2" charset="0"/>
                <a:ea typeface="Microsoft Himalaya" panose="01010100010101010101" pitchFamily="2" charset="0"/>
                <a:cs typeface="Microsoft Himalaya" panose="01010100010101010101" pitchFamily="2" charset="0"/>
              </a:rPr>
              <a:t>Amara Tariq     </a:t>
            </a:r>
            <a:r>
              <a:rPr lang="en-US" sz="2800" dirty="0">
                <a:effectLst/>
                <a:latin typeface="Microsoft Himalaya" panose="01010100010101010101" pitchFamily="2" charset="0"/>
                <a:ea typeface="Microsoft Himalaya" panose="01010100010101010101" pitchFamily="2" charset="0"/>
                <a:cs typeface="Microsoft Himalaya" panose="01010100010101010101" pitchFamily="2" charset="0"/>
              </a:rPr>
              <a:t> 2. </a:t>
            </a:r>
            <a:r>
              <a:rPr lang="en-US" sz="2800" dirty="0" err="1">
                <a:effectLst/>
                <a:latin typeface="Microsoft Himalaya" panose="01010100010101010101" pitchFamily="2" charset="0"/>
                <a:ea typeface="Microsoft Himalaya" panose="01010100010101010101" pitchFamily="2" charset="0"/>
                <a:cs typeface="Microsoft Himalaya" panose="01010100010101010101" pitchFamily="2" charset="0"/>
              </a:rPr>
              <a:t>Khansa</a:t>
            </a:r>
            <a:r>
              <a:rPr lang="en-US" sz="2800" dirty="0">
                <a:effectLst/>
                <a:latin typeface="Microsoft Himalaya" panose="01010100010101010101" pitchFamily="2" charset="0"/>
                <a:ea typeface="Microsoft Himalaya" panose="01010100010101010101" pitchFamily="2" charset="0"/>
                <a:cs typeface="Microsoft Himalaya" panose="01010100010101010101" pitchFamily="2" charset="0"/>
              </a:rPr>
              <a:t> Azeem</a:t>
            </a:r>
          </a:p>
          <a:p>
            <a:r>
              <a:rPr lang="en-US" sz="2800" dirty="0">
                <a:effectLst/>
                <a:latin typeface="Microsoft Himalaya" panose="01010100010101010101" pitchFamily="2" charset="0"/>
                <a:ea typeface="Microsoft Himalaya" panose="01010100010101010101" pitchFamily="2" charset="0"/>
                <a:cs typeface="Microsoft Himalaya" panose="01010100010101010101" pitchFamily="2" charset="0"/>
              </a:rPr>
              <a:t>3. Ayesha Akbar  4. </a:t>
            </a:r>
            <a:r>
              <a:rPr lang="en-US" sz="2800" dirty="0" err="1">
                <a:effectLst/>
                <a:latin typeface="Microsoft Himalaya" panose="01010100010101010101" pitchFamily="2" charset="0"/>
                <a:ea typeface="Microsoft Himalaya" panose="01010100010101010101" pitchFamily="2" charset="0"/>
                <a:cs typeface="Microsoft Himalaya" panose="01010100010101010101" pitchFamily="2" charset="0"/>
              </a:rPr>
              <a:t>Zeenat</a:t>
            </a:r>
            <a:r>
              <a:rPr lang="en-US" sz="2800" dirty="0">
                <a:effectLst/>
                <a:latin typeface="Microsoft Himalaya" panose="01010100010101010101" pitchFamily="2" charset="0"/>
                <a:ea typeface="Microsoft Himalaya" panose="01010100010101010101" pitchFamily="2" charset="0"/>
                <a:cs typeface="Microsoft Himalaya" panose="01010100010101010101" pitchFamily="2" charset="0"/>
              </a:rPr>
              <a:t> Fatima</a:t>
            </a:r>
            <a:endParaRPr lang="en-US" sz="2800" u="sng" dirty="0">
              <a:solidFill>
                <a:srgbClr val="990000"/>
              </a:solidFill>
              <a:effectLst/>
              <a:latin typeface="Microsoft Himalaya" panose="01010100010101010101" pitchFamily="2" charset="0"/>
              <a:ea typeface="Microsoft Himalaya" panose="01010100010101010101" pitchFamily="2" charset="0"/>
              <a:cs typeface="Microsoft Himalaya" panose="01010100010101010101" pitchFamily="2" charset="0"/>
            </a:endParaRPr>
          </a:p>
          <a:p>
            <a:endParaRPr lang="en-US" sz="2800" b="1" dirty="0">
              <a:effectLst/>
            </a:endParaRPr>
          </a:p>
          <a:p>
            <a:endParaRPr lang="en-US" sz="2400" b="1" u="sng" dirty="0">
              <a:latin typeface="Perpetua Titling MT" panose="02020502060505020804" pitchFamily="18" charset="0"/>
            </a:endParaRPr>
          </a:p>
          <a:p>
            <a:endParaRPr lang="en-US" sz="2400" b="1" u="sng" dirty="0">
              <a:effectLst/>
              <a:latin typeface="Perpetua Titling MT" panose="02020502060505020804" pitchFamily="18" charset="0"/>
            </a:endParaRPr>
          </a:p>
        </p:txBody>
      </p:sp>
    </p:spTree>
    <p:extLst>
      <p:ext uri="{BB962C8B-B14F-4D97-AF65-F5344CB8AC3E}">
        <p14:creationId xmlns:p14="http://schemas.microsoft.com/office/powerpoint/2010/main" val="1547786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E4E663-B36C-4C7F-8AF4-A8BDEBBE7AC8}"/>
              </a:ext>
            </a:extLst>
          </p:cNvPr>
          <p:cNvSpPr txBox="1"/>
          <p:nvPr/>
        </p:nvSpPr>
        <p:spPr>
          <a:xfrm>
            <a:off x="363682" y="289679"/>
            <a:ext cx="5205845" cy="6001643"/>
          </a:xfrm>
          <a:prstGeom prst="rect">
            <a:avLst/>
          </a:prstGeom>
          <a:noFill/>
        </p:spPr>
        <p:txBody>
          <a:bodyPr wrap="square">
            <a:spAutoFit/>
          </a:bodyPr>
          <a:lstStyle/>
          <a:p>
            <a:r>
              <a:rPr lang="en-US" sz="2400" b="1" u="sng" dirty="0">
                <a:solidFill>
                  <a:srgbClr val="FF0000"/>
                </a:solidFill>
                <a:effectLst/>
                <a:latin typeface="Century" panose="02040604050505020304" pitchFamily="18" charset="0"/>
              </a:rPr>
              <a:t>What is OCD?</a:t>
            </a:r>
            <a:r>
              <a:rPr lang="en-US" sz="2400" u="sng" dirty="0">
                <a:solidFill>
                  <a:srgbClr val="FF0000"/>
                </a:solidFill>
                <a:effectLst/>
                <a:latin typeface="Century" panose="02040604050505020304" pitchFamily="18" charset="0"/>
              </a:rPr>
              <a:t> </a:t>
            </a:r>
            <a:r>
              <a:rPr lang="en-US" sz="2400" dirty="0">
                <a:effectLst/>
                <a:latin typeface="Century" panose="02040604050505020304" pitchFamily="18" charset="0"/>
              </a:rPr>
              <a:t>OCD is a mental health cycle where distressing, intrusive thoughts (obsessions) trigger intense anxiety, forcing a person to perform repetitive rituals (compulsions) for temporary relief.</a:t>
            </a:r>
          </a:p>
          <a:p>
            <a:r>
              <a:rPr lang="en-US" sz="2400" b="1" u="sng" dirty="0">
                <a:solidFill>
                  <a:srgbClr val="FF0000"/>
                </a:solidFill>
                <a:effectLst/>
                <a:latin typeface="Century" panose="02040604050505020304" pitchFamily="18" charset="0"/>
              </a:rPr>
              <a:t>Project Motivation</a:t>
            </a:r>
            <a:r>
              <a:rPr lang="en-US" sz="2400" u="sng" dirty="0">
                <a:solidFill>
                  <a:srgbClr val="FF0000"/>
                </a:solidFill>
                <a:effectLst/>
                <a:latin typeface="Century" panose="02040604050505020304" pitchFamily="18" charset="0"/>
              </a:rPr>
              <a:t> </a:t>
            </a:r>
            <a:r>
              <a:rPr lang="en-US" sz="2400" dirty="0">
                <a:effectLst/>
                <a:latin typeface="Century" panose="02040604050505020304" pitchFamily="18" charset="0"/>
              </a:rPr>
              <a:t>To move beyond clinical theory by using data science to pinpoint which specific treatments and lifestyle habits (like sleep and stress management) most effectively reduce symptom severity.</a:t>
            </a:r>
          </a:p>
          <a:p>
            <a:r>
              <a:rPr lang="en-US" sz="2400" b="1" u="sng" dirty="0">
                <a:solidFill>
                  <a:srgbClr val="FF0000"/>
                </a:solidFill>
                <a:effectLst/>
                <a:latin typeface="Century" panose="02040604050505020304" pitchFamily="18" charset="0"/>
              </a:rPr>
              <a:t>The Dataset (Kaggle)</a:t>
            </a:r>
            <a:r>
              <a:rPr lang="en-US" sz="2400" u="sng" dirty="0">
                <a:solidFill>
                  <a:srgbClr val="FF0000"/>
                </a:solidFill>
                <a:effectLst/>
                <a:latin typeface="Century" panose="02040604050505020304" pitchFamily="18" charset="0"/>
              </a:rPr>
              <a:t> </a:t>
            </a:r>
            <a:r>
              <a:rPr lang="en-US" sz="2400" dirty="0">
                <a:effectLst/>
                <a:latin typeface="Century" panose="02040604050505020304" pitchFamily="18" charset="0"/>
              </a:rPr>
              <a:t>• Source: Clinical OCD Dataset (500 patient records)</a:t>
            </a:r>
          </a:p>
        </p:txBody>
      </p:sp>
      <p:pic>
        <p:nvPicPr>
          <p:cNvPr id="5" name="Picture 4">
            <a:extLst>
              <a:ext uri="{FF2B5EF4-FFF2-40B4-BE49-F238E27FC236}">
                <a16:creationId xmlns:a16="http://schemas.microsoft.com/office/drawing/2014/main" id="{F0249803-1EE9-897D-4FD1-4B6075E7F5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2318" y="164988"/>
            <a:ext cx="6096000" cy="5622748"/>
          </a:xfrm>
          <a:prstGeom prst="rect">
            <a:avLst/>
          </a:prstGeom>
        </p:spPr>
      </p:pic>
    </p:spTree>
    <p:extLst>
      <p:ext uri="{BB962C8B-B14F-4D97-AF65-F5344CB8AC3E}">
        <p14:creationId xmlns:p14="http://schemas.microsoft.com/office/powerpoint/2010/main" val="2882946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27DB38-7625-A4C4-A70C-7482AAF4F529}"/>
              </a:ext>
            </a:extLst>
          </p:cNvPr>
          <p:cNvSpPr txBox="1"/>
          <p:nvPr/>
        </p:nvSpPr>
        <p:spPr>
          <a:xfrm>
            <a:off x="353291" y="477349"/>
            <a:ext cx="9382991" cy="4893647"/>
          </a:xfrm>
          <a:prstGeom prst="rect">
            <a:avLst/>
          </a:prstGeom>
          <a:noFill/>
        </p:spPr>
        <p:txBody>
          <a:bodyPr wrap="square">
            <a:spAutoFit/>
          </a:bodyPr>
          <a:lstStyle/>
          <a:p>
            <a:pPr marL="285750" indent="-285750">
              <a:buFont typeface="Wingdings" panose="05000000000000000000" pitchFamily="2" charset="2"/>
              <a:buChar char="q"/>
            </a:pPr>
            <a:r>
              <a:rPr lang="en-US" b="1" u="sng" dirty="0">
                <a:solidFill>
                  <a:srgbClr val="FF0000"/>
                </a:solidFill>
                <a:effectLst/>
              </a:rPr>
              <a:t>• </a:t>
            </a:r>
            <a:r>
              <a:rPr lang="en-US" sz="2400" b="1" u="sng" dirty="0">
                <a:solidFill>
                  <a:srgbClr val="FF0000"/>
                </a:solidFill>
                <a:effectLst/>
                <a:latin typeface="Century" panose="02040604050505020304" pitchFamily="18" charset="0"/>
              </a:rPr>
              <a:t>Key Variables: </a:t>
            </a:r>
            <a:r>
              <a:rPr lang="en-US" sz="2400" dirty="0">
                <a:effectLst/>
                <a:latin typeface="Century" panose="02040604050505020304" pitchFamily="18" charset="0"/>
              </a:rPr>
              <a:t>– Demographic data (Age, Gender) – Therapy types (ERP, CBT, Combined) – Lifestyle metrics (Sleep quality, Stress levels, Exercise, Screen time) – Clinical measures (Y-BOCS severity scores, Obsessions/Compulsions subscales, Depression diagnosis, Duration of symptoms)</a:t>
            </a:r>
          </a:p>
          <a:p>
            <a:endParaRPr lang="en-US" sz="2400" dirty="0">
              <a:effectLst/>
              <a:latin typeface="Century" panose="02040604050505020304" pitchFamily="18" charset="0"/>
            </a:endParaRPr>
          </a:p>
          <a:p>
            <a:endParaRPr lang="en-US" sz="2400" b="1" u="sng" dirty="0">
              <a:solidFill>
                <a:srgbClr val="FF0000"/>
              </a:solidFill>
              <a:effectLst/>
              <a:latin typeface="Century" panose="02040604050505020304" pitchFamily="18" charset="0"/>
            </a:endParaRPr>
          </a:p>
          <a:p>
            <a:r>
              <a:rPr lang="en-US" sz="2400" b="1" u="sng" dirty="0">
                <a:solidFill>
                  <a:srgbClr val="FF0000"/>
                </a:solidFill>
                <a:effectLst/>
                <a:latin typeface="Century" panose="02040604050505020304" pitchFamily="18" charset="0"/>
              </a:rPr>
              <a:t>Challenges in Analysis</a:t>
            </a:r>
            <a:r>
              <a:rPr lang="en-US" sz="2400" u="sng" dirty="0">
                <a:solidFill>
                  <a:srgbClr val="FF0000"/>
                </a:solidFill>
                <a:effectLst/>
                <a:latin typeface="Century" panose="02040604050505020304" pitchFamily="18" charset="0"/>
              </a:rPr>
              <a:t> </a:t>
            </a:r>
            <a:r>
              <a:rPr lang="en-US" sz="2400" dirty="0">
                <a:effectLst/>
                <a:latin typeface="Century" panose="02040604050505020304" pitchFamily="18" charset="0"/>
              </a:rPr>
              <a:t>• Data Distribution: OCD severity scores (Y-BOCS) are non-normal and heavily skewed → required robust non-parametric statistical testing throughout. • Complex Predictors: High rates of comorbidities (especially Depression) create significant “noise,” complicating efforts to isolate standalone drivers of OCD severity</a:t>
            </a:r>
            <a:r>
              <a:rPr lang="en-US" dirty="0">
                <a:effectLst/>
              </a:rPr>
              <a:t>.</a:t>
            </a:r>
          </a:p>
        </p:txBody>
      </p:sp>
    </p:spTree>
    <p:extLst>
      <p:ext uri="{BB962C8B-B14F-4D97-AF65-F5344CB8AC3E}">
        <p14:creationId xmlns:p14="http://schemas.microsoft.com/office/powerpoint/2010/main" val="2994683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83DE6-7274-DB83-4457-EA34585F2BF3}"/>
              </a:ext>
            </a:extLst>
          </p:cNvPr>
          <p:cNvSpPr>
            <a:spLocks noGrp="1"/>
          </p:cNvSpPr>
          <p:nvPr>
            <p:ph type="title"/>
          </p:nvPr>
        </p:nvSpPr>
        <p:spPr/>
        <p:txBody>
          <a:bodyPr>
            <a:normAutofit fontScale="90000"/>
          </a:bodyPr>
          <a:lstStyle/>
          <a:p>
            <a:r>
              <a:rPr lang="en-US" sz="2700" b="1" u="sng" dirty="0">
                <a:solidFill>
                  <a:srgbClr val="C00000"/>
                </a:solidFill>
                <a:effectLst/>
                <a:latin typeface="Century" panose="02040604050505020304" pitchFamily="18" charset="0"/>
              </a:rPr>
              <a:t>Impact of Depression on OCD Severity</a:t>
            </a:r>
            <a:br>
              <a:rPr lang="en-US" sz="2700" b="1" u="sng" dirty="0">
                <a:solidFill>
                  <a:srgbClr val="C00000"/>
                </a:solidFill>
                <a:effectLst/>
                <a:latin typeface="Century" panose="02040604050505020304" pitchFamily="18" charset="0"/>
              </a:rPr>
            </a:br>
            <a:r>
              <a:rPr lang="en-US" sz="2700" b="1" u="sng" dirty="0">
                <a:solidFill>
                  <a:srgbClr val="C00000"/>
                </a:solidFill>
                <a:effectLst/>
                <a:latin typeface="Century" panose="02040604050505020304" pitchFamily="18" charset="0"/>
              </a:rPr>
              <a:t>Statistical Test</a:t>
            </a:r>
            <a:br>
              <a:rPr lang="en-US" sz="2700" b="1" u="sng" dirty="0">
                <a:solidFill>
                  <a:srgbClr val="C00000"/>
                </a:solidFill>
                <a:latin typeface="Century" panose="02040604050505020304" pitchFamily="18" charset="0"/>
              </a:rPr>
            </a:br>
            <a:r>
              <a:rPr lang="en-US" sz="2700" b="1" u="sng" dirty="0">
                <a:solidFill>
                  <a:srgbClr val="C00000"/>
                </a:solidFill>
                <a:latin typeface="Century" panose="02040604050505020304" pitchFamily="18" charset="0"/>
              </a:rPr>
              <a:t> Mann-Whitney U Test (Non-Parametric)</a:t>
            </a:r>
            <a:br>
              <a:rPr lang="en-US" b="1" u="sng" dirty="0">
                <a:solidFill>
                  <a:srgbClr val="C00000"/>
                </a:solidFill>
              </a:rPr>
            </a:br>
            <a:endParaRPr lang="en-US" b="1" u="sng" dirty="0">
              <a:solidFill>
                <a:srgbClr val="C00000"/>
              </a:solidFill>
            </a:endParaRPr>
          </a:p>
        </p:txBody>
      </p:sp>
      <p:sp>
        <p:nvSpPr>
          <p:cNvPr id="3" name="Content Placeholder 2">
            <a:extLst>
              <a:ext uri="{FF2B5EF4-FFF2-40B4-BE49-F238E27FC236}">
                <a16:creationId xmlns:a16="http://schemas.microsoft.com/office/drawing/2014/main" id="{88B0A653-A7D7-6D39-9A11-39BC3E5653BF}"/>
              </a:ext>
            </a:extLst>
          </p:cNvPr>
          <p:cNvSpPr>
            <a:spLocks noGrp="1"/>
          </p:cNvSpPr>
          <p:nvPr>
            <p:ph idx="1"/>
          </p:nvPr>
        </p:nvSpPr>
        <p:spPr/>
        <p:txBody>
          <a:bodyPr>
            <a:normAutofit/>
          </a:bodyPr>
          <a:lstStyle/>
          <a:p>
            <a:r>
              <a:rPr lang="en-US" b="1" u="sng" dirty="0">
                <a:effectLst/>
                <a:latin typeface="Century" panose="02040604050505020304" pitchFamily="18" charset="0"/>
              </a:rPr>
              <a:t>Hypotheses &amp; Results</a:t>
            </a:r>
          </a:p>
          <a:p>
            <a:pPr marL="0" indent="0">
              <a:buNone/>
            </a:pPr>
            <a:r>
              <a:rPr lang="en-US" dirty="0">
                <a:latin typeface="Century" panose="02040604050505020304" pitchFamily="18" charset="0"/>
              </a:rPr>
              <a:t>Statistical Components:</a:t>
            </a:r>
          </a:p>
          <a:p>
            <a:r>
              <a:rPr lang="en-US" dirty="0">
                <a:effectLst/>
                <a:latin typeface="Century" panose="02040604050505020304" pitchFamily="18" charset="0"/>
              </a:rPr>
              <a:t>H₀: There is no difference in OCD severity between depressed and non-depressed patients.</a:t>
            </a:r>
          </a:p>
          <a:p>
            <a:r>
              <a:rPr lang="en-US" dirty="0">
                <a:effectLst/>
                <a:latin typeface="Century" panose="02040604050505020304" pitchFamily="18" charset="0"/>
              </a:rPr>
              <a:t>H₁: Patients with depression have  higher OCD severity.</a:t>
            </a:r>
          </a:p>
          <a:p>
            <a:r>
              <a:rPr lang="en-US" dirty="0">
                <a:effectLst/>
                <a:latin typeface="Century" panose="02040604050505020304" pitchFamily="18" charset="0"/>
              </a:rPr>
              <a:t>Result: U = 20285.5, p = 0.0003</a:t>
            </a:r>
          </a:p>
          <a:p>
            <a:r>
              <a:rPr lang="en-US" dirty="0">
                <a:effectLst/>
                <a:latin typeface="Century" panose="02040604050505020304" pitchFamily="18" charset="0"/>
              </a:rPr>
              <a:t>Decision: Reject H₀ (Significant difference found).</a:t>
            </a:r>
          </a:p>
          <a:p>
            <a:endParaRPr lang="en-US" dirty="0"/>
          </a:p>
        </p:txBody>
      </p:sp>
    </p:spTree>
    <p:extLst>
      <p:ext uri="{BB962C8B-B14F-4D97-AF65-F5344CB8AC3E}">
        <p14:creationId xmlns:p14="http://schemas.microsoft.com/office/powerpoint/2010/main" val="3073759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8E2416-F85B-2AAD-C105-A83A63FA5D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8700" y="697453"/>
            <a:ext cx="9094020" cy="4951507"/>
          </a:xfrm>
          <a:prstGeom prst="rect">
            <a:avLst/>
          </a:prstGeom>
        </p:spPr>
      </p:pic>
    </p:spTree>
    <p:extLst>
      <p:ext uri="{BB962C8B-B14F-4D97-AF65-F5344CB8AC3E}">
        <p14:creationId xmlns:p14="http://schemas.microsoft.com/office/powerpoint/2010/main" val="2645922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DC7ED0F-09F0-E776-E523-EDBD5DB582D6}"/>
              </a:ext>
            </a:extLst>
          </p:cNvPr>
          <p:cNvSpPr txBox="1"/>
          <p:nvPr/>
        </p:nvSpPr>
        <p:spPr>
          <a:xfrm>
            <a:off x="365760" y="317699"/>
            <a:ext cx="11501120" cy="5139869"/>
          </a:xfrm>
          <a:prstGeom prst="rect">
            <a:avLst/>
          </a:prstGeom>
          <a:noFill/>
        </p:spPr>
        <p:txBody>
          <a:bodyPr wrap="square">
            <a:spAutoFit/>
          </a:bodyPr>
          <a:lstStyle/>
          <a:p>
            <a:r>
              <a:rPr lang="en-US" sz="2800" b="1" u="sng" dirty="0">
                <a:effectLst/>
                <a:latin typeface="Century" panose="02040604050505020304" pitchFamily="18" charset="0"/>
              </a:rPr>
              <a:t>Predictive Modeling (What drives OCD?)</a:t>
            </a:r>
          </a:p>
          <a:p>
            <a:endParaRPr lang="en-US" sz="2400" b="1" u="sng" dirty="0">
              <a:effectLst/>
              <a:latin typeface="Century" panose="02040604050505020304" pitchFamily="18" charset="0"/>
            </a:endParaRPr>
          </a:p>
          <a:p>
            <a:r>
              <a:rPr lang="en-US" sz="2400" b="1" u="sng" dirty="0">
                <a:solidFill>
                  <a:srgbClr val="990000"/>
                </a:solidFill>
                <a:latin typeface="Century" panose="02040604050505020304" pitchFamily="18" charset="0"/>
              </a:rPr>
              <a:t>Test Name: Multiple Linear Regression</a:t>
            </a:r>
          </a:p>
          <a:p>
            <a:pPr>
              <a:buFont typeface="+mj-lt"/>
              <a:buAutoNum type="arabicPeriod"/>
            </a:pPr>
            <a:endParaRPr lang="en-US" sz="2400" b="1" u="sng" dirty="0">
              <a:solidFill>
                <a:srgbClr val="990000"/>
              </a:solidFill>
              <a:latin typeface="Century" panose="02040604050505020304" pitchFamily="18" charset="0"/>
            </a:endParaRPr>
          </a:p>
          <a:p>
            <a:endParaRPr lang="en-US" sz="2400" b="1" u="sng" dirty="0">
              <a:solidFill>
                <a:srgbClr val="990000"/>
              </a:solidFill>
              <a:latin typeface="Century" panose="02040604050505020304" pitchFamily="18" charset="0"/>
            </a:endParaRPr>
          </a:p>
          <a:p>
            <a:r>
              <a:rPr lang="en-US" sz="2400" b="1" u="sng" dirty="0">
                <a:latin typeface="Century" panose="02040604050505020304" pitchFamily="18" charset="0"/>
              </a:rPr>
              <a:t>Why applied</a:t>
            </a:r>
            <a:r>
              <a:rPr lang="en-US" sz="2400" dirty="0">
                <a:latin typeface="Century" panose="02040604050505020304" pitchFamily="18" charset="0"/>
              </a:rPr>
              <a:t>: </a:t>
            </a:r>
            <a:r>
              <a:rPr lang="en-US" sz="2000" dirty="0">
                <a:latin typeface="Century" panose="02040604050505020304" pitchFamily="18" charset="0"/>
              </a:rPr>
              <a:t>To see which factor has the </a:t>
            </a:r>
            <a:r>
              <a:rPr lang="en-US" sz="2000" i="1" dirty="0">
                <a:latin typeface="Century" panose="02040604050505020304" pitchFamily="18" charset="0"/>
              </a:rPr>
              <a:t>most</a:t>
            </a:r>
            <a:r>
              <a:rPr lang="en-US" sz="2000" dirty="0">
                <a:latin typeface="Century" panose="02040604050505020304" pitchFamily="18" charset="0"/>
              </a:rPr>
              <a:t> power to predict a patient's Y-BOCS score when all factors (Stress, Sleep, Exercise, Depression) are considered at once.</a:t>
            </a:r>
          </a:p>
          <a:p>
            <a:pPr>
              <a:buFont typeface="+mj-lt"/>
              <a:buAutoNum type="arabicPeriod"/>
            </a:pPr>
            <a:endParaRPr lang="en-US" sz="2000" dirty="0">
              <a:latin typeface="Century" panose="02040604050505020304" pitchFamily="18" charset="0"/>
            </a:endParaRPr>
          </a:p>
          <a:p>
            <a:r>
              <a:rPr lang="en-US" sz="2000" b="1" u="sng" dirty="0">
                <a:solidFill>
                  <a:srgbClr val="990000"/>
                </a:solidFill>
                <a:effectLst/>
                <a:latin typeface="Century" panose="02040604050505020304" pitchFamily="18" charset="0"/>
              </a:rPr>
              <a:t>Mathematical Results:</a:t>
            </a:r>
          </a:p>
          <a:p>
            <a:endParaRPr lang="en-US" sz="2000" b="1" u="sng" dirty="0">
              <a:solidFill>
                <a:srgbClr val="990000"/>
              </a:solidFill>
              <a:effectLst/>
              <a:latin typeface="Century" panose="02040604050505020304" pitchFamily="18" charset="0"/>
            </a:endParaRPr>
          </a:p>
          <a:p>
            <a:r>
              <a:rPr lang="en-US" sz="2000" dirty="0">
                <a:effectLst/>
                <a:latin typeface="Century" panose="02040604050505020304" pitchFamily="18" charset="0"/>
              </a:rPr>
              <a:t> • Model Fit (R²): 0.063 </a:t>
            </a:r>
          </a:p>
          <a:p>
            <a:r>
              <a:rPr lang="en-US" sz="2000" dirty="0">
                <a:effectLst/>
                <a:latin typeface="Century" panose="02040604050505020304" pitchFamily="18" charset="0"/>
              </a:rPr>
              <a:t>• Top Predictor (Depression): Coeff = 5.51 (p &lt; 0.001)</a:t>
            </a:r>
          </a:p>
          <a:p>
            <a:r>
              <a:rPr lang="en-US" sz="2000" dirty="0">
                <a:effectLst/>
                <a:latin typeface="Century" panose="02040604050505020304" pitchFamily="18" charset="0"/>
              </a:rPr>
              <a:t> • Second Predictor (Sleep): Coeff = -1.03 (p &lt; 0.001) </a:t>
            </a:r>
          </a:p>
          <a:p>
            <a:r>
              <a:rPr lang="en-US" sz="2000" dirty="0">
                <a:effectLst/>
                <a:latin typeface="Century" panose="02040604050505020304" pitchFamily="18" charset="0"/>
              </a:rPr>
              <a:t>• Third Predictor (Stress): Coeff = 0.62 (p = 0.026)</a:t>
            </a:r>
          </a:p>
          <a:p>
            <a:endParaRPr lang="en-US" sz="2000" dirty="0">
              <a:latin typeface="Century" panose="02040604050505020304" pitchFamily="18" charset="0"/>
            </a:endParaRPr>
          </a:p>
        </p:txBody>
      </p:sp>
    </p:spTree>
    <p:extLst>
      <p:ext uri="{BB962C8B-B14F-4D97-AF65-F5344CB8AC3E}">
        <p14:creationId xmlns:p14="http://schemas.microsoft.com/office/powerpoint/2010/main" val="3322358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7A82AA0-D358-E589-05CB-DA4111B610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062" y="119062"/>
            <a:ext cx="11191875" cy="6619875"/>
          </a:xfrm>
          <a:prstGeom prst="rect">
            <a:avLst/>
          </a:prstGeom>
        </p:spPr>
      </p:pic>
    </p:spTree>
    <p:extLst>
      <p:ext uri="{BB962C8B-B14F-4D97-AF65-F5344CB8AC3E}">
        <p14:creationId xmlns:p14="http://schemas.microsoft.com/office/powerpoint/2010/main" val="3179532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8B5032-9678-18F7-2A3B-639716FC9A1D}"/>
              </a:ext>
            </a:extLst>
          </p:cNvPr>
          <p:cNvSpPr txBox="1"/>
          <p:nvPr/>
        </p:nvSpPr>
        <p:spPr>
          <a:xfrm>
            <a:off x="213360" y="290959"/>
            <a:ext cx="10393680" cy="4708981"/>
          </a:xfrm>
          <a:prstGeom prst="rect">
            <a:avLst/>
          </a:prstGeom>
          <a:noFill/>
        </p:spPr>
        <p:txBody>
          <a:bodyPr wrap="square">
            <a:spAutoFit/>
          </a:bodyPr>
          <a:lstStyle/>
          <a:p>
            <a:r>
              <a:rPr lang="en-US" sz="2800" b="1" u="sng" dirty="0">
                <a:solidFill>
                  <a:srgbClr val="990000"/>
                </a:solidFill>
                <a:effectLst/>
                <a:latin typeface="Century" panose="02040604050505020304" pitchFamily="18" charset="0"/>
              </a:rPr>
              <a:t>Correlation of Behavioral Factors</a:t>
            </a:r>
          </a:p>
          <a:p>
            <a:endParaRPr lang="en-US" sz="2400" b="1" u="sng" dirty="0">
              <a:solidFill>
                <a:srgbClr val="990000"/>
              </a:solidFill>
              <a:effectLst/>
              <a:latin typeface="Century" panose="02040604050505020304" pitchFamily="18" charset="0"/>
            </a:endParaRPr>
          </a:p>
          <a:p>
            <a:pPr>
              <a:buFont typeface="+mj-lt"/>
              <a:buAutoNum type="arabicPeriod"/>
            </a:pPr>
            <a:r>
              <a:rPr lang="en-US" sz="2400" b="1" u="sng" dirty="0">
                <a:latin typeface="Century" panose="02040604050505020304" pitchFamily="18" charset="0"/>
              </a:rPr>
              <a:t>Test Name: Kendall’s Tau Correlation</a:t>
            </a:r>
          </a:p>
          <a:p>
            <a:pPr>
              <a:buFont typeface="+mj-lt"/>
              <a:buAutoNum type="arabicPeriod"/>
            </a:pPr>
            <a:endParaRPr lang="en-US" sz="2400" b="1" u="sng" dirty="0">
              <a:latin typeface="Century" panose="02040604050505020304" pitchFamily="18" charset="0"/>
            </a:endParaRPr>
          </a:p>
          <a:p>
            <a:r>
              <a:rPr lang="en-US" sz="2400" b="1" u="sng" dirty="0">
                <a:solidFill>
                  <a:srgbClr val="990000"/>
                </a:solidFill>
                <a:latin typeface="Century" panose="02040604050505020304" pitchFamily="18" charset="0"/>
              </a:rPr>
              <a:t>Why applied: </a:t>
            </a:r>
            <a:r>
              <a:rPr lang="en-US" sz="2400" dirty="0">
                <a:latin typeface="Century" panose="02040604050505020304" pitchFamily="18" charset="0"/>
              </a:rPr>
              <a:t>To measure the strength and direction of the relationship between behavioral habits (Stress, Sleep, Exercise) and OCD Severity. We use Kendall’s Tau because it is best for non-normal, ordinal data.</a:t>
            </a:r>
          </a:p>
          <a:p>
            <a:endParaRPr lang="en-US" sz="2400" dirty="0">
              <a:latin typeface="Century" panose="02040604050505020304" pitchFamily="18" charset="0"/>
            </a:endParaRPr>
          </a:p>
          <a:p>
            <a:r>
              <a:rPr lang="en-US" sz="2400" b="1" u="sng" dirty="0">
                <a:solidFill>
                  <a:srgbClr val="990000"/>
                </a:solidFill>
                <a:latin typeface="Century" panose="02040604050505020304" pitchFamily="18" charset="0"/>
              </a:rPr>
              <a:t>Statistical Results:</a:t>
            </a:r>
          </a:p>
          <a:p>
            <a:pPr>
              <a:buFont typeface="+mj-lt"/>
              <a:buAutoNum type="arabicPeriod"/>
            </a:pPr>
            <a:r>
              <a:rPr lang="en-US" dirty="0"/>
              <a:t> </a:t>
            </a:r>
            <a:r>
              <a:rPr lang="en-US" sz="2000" dirty="0">
                <a:latin typeface="Century" panose="02040604050505020304" pitchFamily="18" charset="0"/>
              </a:rPr>
              <a:t>• Sleep Quality: </a:t>
            </a:r>
            <a:r>
              <a:rPr lang="el-GR" sz="2000" dirty="0">
                <a:latin typeface="Century" panose="02040604050505020304" pitchFamily="18" charset="0"/>
              </a:rPr>
              <a:t>τ = -0.1</a:t>
            </a:r>
            <a:r>
              <a:rPr lang="en-US" sz="2000" dirty="0">
                <a:latin typeface="Century" panose="02040604050505020304" pitchFamily="18" charset="0"/>
              </a:rPr>
              <a:t>1</a:t>
            </a:r>
            <a:r>
              <a:rPr lang="el-GR" sz="2000" dirty="0">
                <a:latin typeface="Century" panose="02040604050505020304" pitchFamily="18" charset="0"/>
              </a:rPr>
              <a:t> | </a:t>
            </a:r>
            <a:r>
              <a:rPr lang="en-US" sz="2000" dirty="0">
                <a:latin typeface="Century" panose="02040604050505020304" pitchFamily="18" charset="0"/>
              </a:rPr>
              <a:t>p &lt; 0.001 (Highly Significant) </a:t>
            </a:r>
          </a:p>
          <a:p>
            <a:pPr>
              <a:buFont typeface="+mj-lt"/>
              <a:buAutoNum type="arabicPeriod"/>
            </a:pPr>
            <a:r>
              <a:rPr lang="en-US" sz="2000" dirty="0">
                <a:latin typeface="Century" panose="02040604050505020304" pitchFamily="18" charset="0"/>
              </a:rPr>
              <a:t>• Stress Level: </a:t>
            </a:r>
            <a:r>
              <a:rPr lang="el-GR" sz="2000" dirty="0">
                <a:latin typeface="Century" panose="02040604050505020304" pitchFamily="18" charset="0"/>
              </a:rPr>
              <a:t>τ = 0.0</a:t>
            </a:r>
            <a:r>
              <a:rPr lang="en-US" sz="2000" dirty="0">
                <a:latin typeface="Century" panose="02040604050505020304" pitchFamily="18" charset="0"/>
              </a:rPr>
              <a:t>88</a:t>
            </a:r>
            <a:r>
              <a:rPr lang="el-GR" sz="2000" dirty="0">
                <a:latin typeface="Century" panose="02040604050505020304" pitchFamily="18" charset="0"/>
              </a:rPr>
              <a:t>| </a:t>
            </a:r>
            <a:r>
              <a:rPr lang="en-US" sz="2000" dirty="0">
                <a:latin typeface="Century" panose="02040604050505020304" pitchFamily="18" charset="0"/>
              </a:rPr>
              <a:t>p = 0.015 (Significant)</a:t>
            </a:r>
          </a:p>
          <a:p>
            <a:pPr>
              <a:buFont typeface="+mj-lt"/>
              <a:buAutoNum type="arabicPeriod"/>
            </a:pPr>
            <a:r>
              <a:rPr lang="en-US" sz="2000" dirty="0">
                <a:latin typeface="Century" panose="02040604050505020304" pitchFamily="18" charset="0"/>
              </a:rPr>
              <a:t> • Exercise: </a:t>
            </a:r>
            <a:r>
              <a:rPr lang="el-GR" sz="2000" dirty="0">
                <a:latin typeface="Century" panose="02040604050505020304" pitchFamily="18" charset="0"/>
              </a:rPr>
              <a:t>τ = 0.046 | </a:t>
            </a:r>
            <a:r>
              <a:rPr lang="en-US" sz="2000" dirty="0">
                <a:latin typeface="Century" panose="02040604050505020304" pitchFamily="18" charset="0"/>
              </a:rPr>
              <a:t>p = 0.131 (Not Significant)</a:t>
            </a:r>
          </a:p>
          <a:p>
            <a:pPr>
              <a:buFont typeface="+mj-lt"/>
              <a:buAutoNum type="arabicPeriod"/>
            </a:pPr>
            <a:r>
              <a:rPr lang="en-US" sz="2000" dirty="0">
                <a:latin typeface="Century" panose="02040604050505020304" pitchFamily="18" charset="0"/>
              </a:rPr>
              <a:t> • Social Support: </a:t>
            </a:r>
            <a:r>
              <a:rPr lang="el-GR" sz="2000" dirty="0">
                <a:latin typeface="Century" panose="02040604050505020304" pitchFamily="18" charset="0"/>
              </a:rPr>
              <a:t>τ = -0.0</a:t>
            </a:r>
            <a:r>
              <a:rPr lang="en-US" sz="2000" dirty="0">
                <a:latin typeface="Century" panose="02040604050505020304" pitchFamily="18" charset="0"/>
              </a:rPr>
              <a:t>4</a:t>
            </a:r>
            <a:r>
              <a:rPr lang="el-GR" sz="2000" dirty="0">
                <a:latin typeface="Century" panose="02040604050505020304" pitchFamily="18" charset="0"/>
              </a:rPr>
              <a:t>| </a:t>
            </a:r>
            <a:r>
              <a:rPr lang="en-US" sz="2000" dirty="0">
                <a:latin typeface="Century" panose="02040604050505020304" pitchFamily="18" charset="0"/>
              </a:rPr>
              <a:t>p = 0.227 (Not Significant)</a:t>
            </a:r>
          </a:p>
        </p:txBody>
      </p:sp>
    </p:spTree>
    <p:extLst>
      <p:ext uri="{BB962C8B-B14F-4D97-AF65-F5344CB8AC3E}">
        <p14:creationId xmlns:p14="http://schemas.microsoft.com/office/powerpoint/2010/main" val="5770750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324844-016C-AFDD-B6F6-1BF1AEC68B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 y="-96837"/>
            <a:ext cx="5919153" cy="3797302"/>
          </a:xfrm>
          <a:prstGeom prst="rect">
            <a:avLst/>
          </a:prstGeom>
        </p:spPr>
      </p:pic>
      <p:pic>
        <p:nvPicPr>
          <p:cNvPr id="5" name="Picture 4">
            <a:extLst>
              <a:ext uri="{FF2B5EF4-FFF2-40B4-BE49-F238E27FC236}">
                <a16:creationId xmlns:a16="http://schemas.microsoft.com/office/drawing/2014/main" id="{B6E115A3-D06C-FCAF-4553-B94EFCCC59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3680" y="138509"/>
            <a:ext cx="5375268" cy="3290491"/>
          </a:xfrm>
          <a:prstGeom prst="rect">
            <a:avLst/>
          </a:prstGeom>
        </p:spPr>
      </p:pic>
      <p:pic>
        <p:nvPicPr>
          <p:cNvPr id="7" name="Picture 6">
            <a:extLst>
              <a:ext uri="{FF2B5EF4-FFF2-40B4-BE49-F238E27FC236}">
                <a16:creationId xmlns:a16="http://schemas.microsoft.com/office/drawing/2014/main" id="{08DB1FB3-DCE3-7625-59D6-5E4F8BB950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9874" y="3870960"/>
            <a:ext cx="5531487" cy="2743200"/>
          </a:xfrm>
          <a:prstGeom prst="rect">
            <a:avLst/>
          </a:prstGeom>
        </p:spPr>
      </p:pic>
      <p:pic>
        <p:nvPicPr>
          <p:cNvPr id="9" name="Picture 8">
            <a:extLst>
              <a:ext uri="{FF2B5EF4-FFF2-40B4-BE49-F238E27FC236}">
                <a16:creationId xmlns:a16="http://schemas.microsoft.com/office/drawing/2014/main" id="{AFCA4A0B-3433-B60F-6DCC-0883F64154E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90640" y="3595608"/>
            <a:ext cx="4929187" cy="3123883"/>
          </a:xfrm>
          <a:prstGeom prst="rect">
            <a:avLst/>
          </a:prstGeom>
        </p:spPr>
      </p:pic>
    </p:spTree>
    <p:extLst>
      <p:ext uri="{BB962C8B-B14F-4D97-AF65-F5344CB8AC3E}">
        <p14:creationId xmlns:p14="http://schemas.microsoft.com/office/powerpoint/2010/main" val="402492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Output image">
            <a:extLst>
              <a:ext uri="{FF2B5EF4-FFF2-40B4-BE49-F238E27FC236}">
                <a16:creationId xmlns:a16="http://schemas.microsoft.com/office/drawing/2014/main" id="{B27F4871-0575-6F61-D1B7-4E4076D13EE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a:extLst>
              <a:ext uri="{FF2B5EF4-FFF2-40B4-BE49-F238E27FC236}">
                <a16:creationId xmlns:a16="http://schemas.microsoft.com/office/drawing/2014/main" id="{CC590CDC-C981-6E04-C942-CD731659CD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190" y="322119"/>
            <a:ext cx="10255828" cy="6213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36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A35973-2E20-DF1F-D70B-39601B1CBA6D}"/>
              </a:ext>
            </a:extLst>
          </p:cNvPr>
          <p:cNvSpPr txBox="1"/>
          <p:nvPr/>
        </p:nvSpPr>
        <p:spPr>
          <a:xfrm>
            <a:off x="223520" y="357277"/>
            <a:ext cx="11765280" cy="3847207"/>
          </a:xfrm>
          <a:prstGeom prst="rect">
            <a:avLst/>
          </a:prstGeom>
          <a:noFill/>
        </p:spPr>
        <p:txBody>
          <a:bodyPr wrap="square">
            <a:spAutoFit/>
          </a:bodyPr>
          <a:lstStyle/>
          <a:p>
            <a:r>
              <a:rPr lang="en-US" sz="2800" b="1" u="sng" dirty="0">
                <a:solidFill>
                  <a:srgbClr val="990000"/>
                </a:solidFill>
                <a:effectLst/>
                <a:latin typeface="Century" panose="02040604050505020304" pitchFamily="18" charset="0"/>
              </a:rPr>
              <a:t>Categorical Analysis (Gender vs. Depression)</a:t>
            </a:r>
            <a:endParaRPr lang="en-US" sz="2800" u="sng" dirty="0">
              <a:solidFill>
                <a:srgbClr val="990000"/>
              </a:solidFill>
              <a:effectLst/>
              <a:latin typeface="Century" panose="02040604050505020304" pitchFamily="18" charset="0"/>
            </a:endParaRPr>
          </a:p>
          <a:p>
            <a:pPr>
              <a:buFont typeface="+mj-lt"/>
              <a:buAutoNum type="arabicPeriod"/>
            </a:pPr>
            <a:r>
              <a:rPr lang="en-US" sz="2400" b="1" u="sng" dirty="0">
                <a:solidFill>
                  <a:srgbClr val="990000"/>
                </a:solidFill>
                <a:latin typeface="Century" panose="02040604050505020304" pitchFamily="18" charset="0"/>
              </a:rPr>
              <a:t>Test Name: </a:t>
            </a:r>
          </a:p>
          <a:p>
            <a:r>
              <a:rPr lang="en-US" sz="2400" dirty="0">
                <a:latin typeface="Century" panose="02040604050505020304" pitchFamily="18" charset="0"/>
              </a:rPr>
              <a:t>Chi-Square Test of Independence</a:t>
            </a:r>
          </a:p>
          <a:p>
            <a:pPr>
              <a:buFont typeface="+mj-lt"/>
              <a:buAutoNum type="arabicPeriod"/>
            </a:pPr>
            <a:r>
              <a:rPr lang="en-US" sz="2400" b="1" u="sng" dirty="0">
                <a:solidFill>
                  <a:srgbClr val="990000"/>
                </a:solidFill>
                <a:latin typeface="Century" panose="02040604050505020304" pitchFamily="18" charset="0"/>
              </a:rPr>
              <a:t>Why applied:</a:t>
            </a:r>
          </a:p>
          <a:p>
            <a:r>
              <a:rPr lang="en-US" sz="2400" b="1" u="sng" dirty="0">
                <a:solidFill>
                  <a:srgbClr val="990000"/>
                </a:solidFill>
                <a:latin typeface="Century" panose="02040604050505020304" pitchFamily="18" charset="0"/>
              </a:rPr>
              <a:t> </a:t>
            </a:r>
            <a:r>
              <a:rPr lang="en-US" sz="2400" dirty="0">
                <a:latin typeface="Century" panose="02040604050505020304" pitchFamily="18" charset="0"/>
              </a:rPr>
              <a:t>To check if one gender is more likely to suffer from depression than others, or if they are independent.</a:t>
            </a:r>
          </a:p>
          <a:p>
            <a:pPr>
              <a:buFont typeface="+mj-lt"/>
              <a:buAutoNum type="arabicPeriod"/>
            </a:pPr>
            <a:r>
              <a:rPr lang="en-US" sz="2400" b="1" u="sng" dirty="0">
                <a:solidFill>
                  <a:srgbClr val="990000"/>
                </a:solidFill>
                <a:latin typeface="Century" panose="02040604050505020304" pitchFamily="18" charset="0"/>
              </a:rPr>
              <a:t>Calculation Results: </a:t>
            </a:r>
          </a:p>
          <a:p>
            <a:pPr>
              <a:buFont typeface="+mj-lt"/>
              <a:buAutoNum type="arabicPeriod"/>
            </a:pPr>
            <a:r>
              <a:rPr lang="en-US" sz="2400" dirty="0">
                <a:latin typeface="Century" panose="02040604050505020304" pitchFamily="18" charset="0"/>
              </a:rPr>
              <a:t>• χ² Statistic: 0.656 </a:t>
            </a:r>
          </a:p>
          <a:p>
            <a:pPr>
              <a:buFont typeface="+mj-lt"/>
              <a:buAutoNum type="arabicPeriod"/>
            </a:pPr>
            <a:r>
              <a:rPr lang="en-US" sz="2400" dirty="0">
                <a:latin typeface="Century" panose="02040604050505020304" pitchFamily="18" charset="0"/>
              </a:rPr>
              <a:t>• p-value: 0.720 </a:t>
            </a:r>
          </a:p>
          <a:p>
            <a:pPr>
              <a:buFont typeface="+mj-lt"/>
              <a:buAutoNum type="arabicPeriod"/>
            </a:pPr>
            <a:r>
              <a:rPr lang="en-US" sz="2400" dirty="0">
                <a:latin typeface="Century" panose="02040604050505020304" pitchFamily="18" charset="0"/>
              </a:rPr>
              <a:t>• Decision: Fail to Reject H₀ (No significant association).</a:t>
            </a:r>
          </a:p>
        </p:txBody>
      </p:sp>
      <p:graphicFrame>
        <p:nvGraphicFramePr>
          <p:cNvPr id="5" name="Table 4">
            <a:extLst>
              <a:ext uri="{FF2B5EF4-FFF2-40B4-BE49-F238E27FC236}">
                <a16:creationId xmlns:a16="http://schemas.microsoft.com/office/drawing/2014/main" id="{8E09AB35-FBBF-738F-5037-578A1E545335}"/>
              </a:ext>
            </a:extLst>
          </p:cNvPr>
          <p:cNvGraphicFramePr>
            <a:graphicFrameLocks noGrp="1"/>
          </p:cNvGraphicFramePr>
          <p:nvPr>
            <p:extLst>
              <p:ext uri="{D42A27DB-BD31-4B8C-83A1-F6EECF244321}">
                <p14:modId xmlns:p14="http://schemas.microsoft.com/office/powerpoint/2010/main" val="1101665709"/>
              </p:ext>
            </p:extLst>
          </p:nvPr>
        </p:nvGraphicFramePr>
        <p:xfrm>
          <a:off x="619760" y="4646523"/>
          <a:ext cx="8127999" cy="1854200"/>
        </p:xfrm>
        <a:graphic>
          <a:graphicData uri="http://schemas.openxmlformats.org/drawingml/2006/table">
            <a:tbl>
              <a:tblPr firstRow="1" bandRow="1">
                <a:tableStyleId>{93296810-A885-4BE3-A3E7-6D5BEEA58F35}</a:tableStyleId>
              </a:tblPr>
              <a:tblGrid>
                <a:gridCol w="2709333">
                  <a:extLst>
                    <a:ext uri="{9D8B030D-6E8A-4147-A177-3AD203B41FA5}">
                      <a16:colId xmlns:a16="http://schemas.microsoft.com/office/drawing/2014/main" val="1266375904"/>
                    </a:ext>
                  </a:extLst>
                </a:gridCol>
                <a:gridCol w="2709333">
                  <a:extLst>
                    <a:ext uri="{9D8B030D-6E8A-4147-A177-3AD203B41FA5}">
                      <a16:colId xmlns:a16="http://schemas.microsoft.com/office/drawing/2014/main" val="2120642759"/>
                    </a:ext>
                  </a:extLst>
                </a:gridCol>
                <a:gridCol w="2709333">
                  <a:extLst>
                    <a:ext uri="{9D8B030D-6E8A-4147-A177-3AD203B41FA5}">
                      <a16:colId xmlns:a16="http://schemas.microsoft.com/office/drawing/2014/main" val="3825977936"/>
                    </a:ext>
                  </a:extLst>
                </a:gridCol>
              </a:tblGrid>
              <a:tr h="370840">
                <a:tc>
                  <a:txBody>
                    <a:bodyPr/>
                    <a:lstStyle/>
                    <a:p>
                      <a:r>
                        <a:rPr lang="en-US" dirty="0"/>
                        <a:t>Gender</a:t>
                      </a:r>
                    </a:p>
                  </a:txBody>
                  <a:tcPr anchor="ctr"/>
                </a:tc>
                <a:tc>
                  <a:txBody>
                    <a:bodyPr/>
                    <a:lstStyle/>
                    <a:p>
                      <a:r>
                        <a:rPr lang="en-US"/>
                        <a:t>No</a:t>
                      </a:r>
                    </a:p>
                  </a:txBody>
                  <a:tcPr anchor="ctr"/>
                </a:tc>
                <a:tc>
                  <a:txBody>
                    <a:bodyPr/>
                    <a:lstStyle/>
                    <a:p>
                      <a:r>
                        <a:rPr lang="en-US"/>
                        <a:t>Yes</a:t>
                      </a:r>
                    </a:p>
                  </a:txBody>
                  <a:tcPr anchor="ctr"/>
                </a:tc>
                <a:extLst>
                  <a:ext uri="{0D108BD9-81ED-4DB2-BD59-A6C34878D82A}">
                    <a16:rowId xmlns:a16="http://schemas.microsoft.com/office/drawing/2014/main" val="3118752929"/>
                  </a:ext>
                </a:extLst>
              </a:tr>
              <a:tr h="370840">
                <a:tc>
                  <a:txBody>
                    <a:bodyPr/>
                    <a:lstStyle/>
                    <a:p>
                      <a:r>
                        <a:rPr lang="en-US"/>
                        <a:t>Female</a:t>
                      </a:r>
                    </a:p>
                  </a:txBody>
                  <a:tcPr anchor="ctr"/>
                </a:tc>
                <a:tc>
                  <a:txBody>
                    <a:bodyPr/>
                    <a:lstStyle/>
                    <a:p>
                      <a:r>
                        <a:rPr lang="en-US" dirty="0"/>
                        <a:t>36</a:t>
                      </a:r>
                    </a:p>
                  </a:txBody>
                  <a:tcPr anchor="ctr"/>
                </a:tc>
                <a:tc>
                  <a:txBody>
                    <a:bodyPr/>
                    <a:lstStyle/>
                    <a:p>
                      <a:r>
                        <a:rPr lang="en-US"/>
                        <a:t>183</a:t>
                      </a:r>
                    </a:p>
                  </a:txBody>
                  <a:tcPr anchor="ctr"/>
                </a:tc>
                <a:extLst>
                  <a:ext uri="{0D108BD9-81ED-4DB2-BD59-A6C34878D82A}">
                    <a16:rowId xmlns:a16="http://schemas.microsoft.com/office/drawing/2014/main" val="93261958"/>
                  </a:ext>
                </a:extLst>
              </a:tr>
              <a:tr h="370840">
                <a:tc>
                  <a:txBody>
                    <a:bodyPr/>
                    <a:lstStyle/>
                    <a:p>
                      <a:r>
                        <a:rPr lang="en-US"/>
                        <a:t>Male</a:t>
                      </a:r>
                    </a:p>
                  </a:txBody>
                  <a:tcPr anchor="ctr"/>
                </a:tc>
                <a:tc>
                  <a:txBody>
                    <a:bodyPr/>
                    <a:lstStyle/>
                    <a:p>
                      <a:r>
                        <a:rPr lang="en-US" dirty="0"/>
                        <a:t>40</a:t>
                      </a:r>
                    </a:p>
                  </a:txBody>
                  <a:tcPr anchor="ctr"/>
                </a:tc>
                <a:tc>
                  <a:txBody>
                    <a:bodyPr/>
                    <a:lstStyle/>
                    <a:p>
                      <a:r>
                        <a:rPr lang="en-US" dirty="0"/>
                        <a:t>211</a:t>
                      </a:r>
                    </a:p>
                  </a:txBody>
                  <a:tcPr anchor="ctr"/>
                </a:tc>
                <a:extLst>
                  <a:ext uri="{0D108BD9-81ED-4DB2-BD59-A6C34878D82A}">
                    <a16:rowId xmlns:a16="http://schemas.microsoft.com/office/drawing/2014/main" val="2612787569"/>
                  </a:ext>
                </a:extLst>
              </a:tr>
              <a:tr h="370840">
                <a:tc>
                  <a:txBody>
                    <a:bodyPr/>
                    <a:lstStyle/>
                    <a:p>
                      <a:r>
                        <a:rPr lang="en-US"/>
                        <a:t>Non-Binary</a:t>
                      </a:r>
                    </a:p>
                  </a:txBody>
                  <a:tcPr anchor="ctr"/>
                </a:tc>
                <a:tc>
                  <a:txBody>
                    <a:bodyPr/>
                    <a:lstStyle/>
                    <a:p>
                      <a:r>
                        <a:rPr lang="en-US" dirty="0"/>
                        <a:t>4</a:t>
                      </a:r>
                    </a:p>
                  </a:txBody>
                  <a:tcPr anchor="ctr"/>
                </a:tc>
                <a:tc>
                  <a:txBody>
                    <a:bodyPr/>
                    <a:lstStyle/>
                    <a:p>
                      <a:r>
                        <a:rPr lang="en-US" dirty="0"/>
                        <a:t>26</a:t>
                      </a:r>
                    </a:p>
                  </a:txBody>
                  <a:tcPr anchor="ctr"/>
                </a:tc>
                <a:extLst>
                  <a:ext uri="{0D108BD9-81ED-4DB2-BD59-A6C34878D82A}">
                    <a16:rowId xmlns:a16="http://schemas.microsoft.com/office/drawing/2014/main" val="1591952778"/>
                  </a:ext>
                </a:extLst>
              </a:tr>
              <a:tr h="370840">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464418462"/>
                  </a:ext>
                </a:extLst>
              </a:tr>
            </a:tbl>
          </a:graphicData>
        </a:graphic>
      </p:graphicFrame>
    </p:spTree>
    <p:extLst>
      <p:ext uri="{BB962C8B-B14F-4D97-AF65-F5344CB8AC3E}">
        <p14:creationId xmlns:p14="http://schemas.microsoft.com/office/powerpoint/2010/main" val="3797809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459483-4DFB-F134-3F9E-82760F0C45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1587" y="114300"/>
            <a:ext cx="9648825" cy="6629400"/>
          </a:xfrm>
          <a:prstGeom prst="rect">
            <a:avLst/>
          </a:prstGeom>
        </p:spPr>
      </p:pic>
    </p:spTree>
    <p:extLst>
      <p:ext uri="{BB962C8B-B14F-4D97-AF65-F5344CB8AC3E}">
        <p14:creationId xmlns:p14="http://schemas.microsoft.com/office/powerpoint/2010/main" val="1003567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46E2AD-ADD0-46BC-80E8-0EAE299163A5}"/>
              </a:ext>
            </a:extLst>
          </p:cNvPr>
          <p:cNvSpPr txBox="1"/>
          <p:nvPr/>
        </p:nvSpPr>
        <p:spPr>
          <a:xfrm>
            <a:off x="218208" y="207323"/>
            <a:ext cx="11513127" cy="5478423"/>
          </a:xfrm>
          <a:prstGeom prst="rect">
            <a:avLst/>
          </a:prstGeom>
          <a:noFill/>
        </p:spPr>
        <p:txBody>
          <a:bodyPr wrap="square">
            <a:spAutoFit/>
          </a:bodyPr>
          <a:lstStyle/>
          <a:p>
            <a:r>
              <a:rPr lang="en-US" sz="2400" b="1" u="sng" dirty="0">
                <a:solidFill>
                  <a:srgbClr val="990000"/>
                </a:solidFill>
                <a:effectLst/>
                <a:latin typeface="Century" panose="02040604050505020304" pitchFamily="18" charset="0"/>
              </a:rPr>
              <a:t>Impact of Therapy Types on OCD Severity</a:t>
            </a:r>
          </a:p>
          <a:p>
            <a:endParaRPr lang="en-US" sz="2400" b="1" u="sng" dirty="0">
              <a:solidFill>
                <a:srgbClr val="990000"/>
              </a:solidFill>
              <a:effectLst/>
              <a:latin typeface="Century" panose="02040604050505020304" pitchFamily="18" charset="0"/>
            </a:endParaRPr>
          </a:p>
          <a:p>
            <a:pPr>
              <a:buFont typeface="+mj-lt"/>
              <a:buAutoNum type="arabicPeriod"/>
            </a:pPr>
            <a:r>
              <a:rPr lang="en-US" sz="2400" b="1" u="sng" dirty="0">
                <a:solidFill>
                  <a:srgbClr val="990000"/>
                </a:solidFill>
                <a:latin typeface="Century" panose="02040604050505020304" pitchFamily="18" charset="0"/>
              </a:rPr>
              <a:t>Test Name</a:t>
            </a:r>
            <a:r>
              <a:rPr lang="en-US" sz="2400" dirty="0">
                <a:latin typeface="Century" panose="02040604050505020304" pitchFamily="18" charset="0"/>
              </a:rPr>
              <a:t>: Kruskal-Wallis H-Test (Non-Parametric).</a:t>
            </a:r>
          </a:p>
          <a:p>
            <a:pPr>
              <a:buFont typeface="+mj-lt"/>
              <a:buAutoNum type="arabicPeriod"/>
            </a:pPr>
            <a:endParaRPr lang="en-US" dirty="0">
              <a:latin typeface="Century" panose="02040604050505020304" pitchFamily="18" charset="0"/>
            </a:endParaRPr>
          </a:p>
          <a:p>
            <a:pPr>
              <a:buFont typeface="+mj-lt"/>
              <a:buAutoNum type="arabicPeriod"/>
            </a:pPr>
            <a:r>
              <a:rPr lang="en-US" sz="2000" b="1" u="sng" dirty="0">
                <a:solidFill>
                  <a:srgbClr val="990000"/>
                </a:solidFill>
                <a:latin typeface="Century" panose="02040604050505020304" pitchFamily="18" charset="0"/>
              </a:rPr>
              <a:t>Why this is applied: </a:t>
            </a:r>
            <a:r>
              <a:rPr lang="en-US" sz="2000" dirty="0">
                <a:latin typeface="Century" panose="02040604050505020304" pitchFamily="18" charset="0"/>
              </a:rPr>
              <a:t>We use this test because we are comparing more than two groups (ERP, CBT, and Combined) and our OCD severity scores are not normally distributed. It helps us see if the type of therapy makes a statistically "accurate" difference in patient outcomes.</a:t>
            </a:r>
          </a:p>
          <a:p>
            <a:pPr>
              <a:buFont typeface="+mj-lt"/>
              <a:buAutoNum type="arabicPeriod"/>
            </a:pPr>
            <a:endParaRPr lang="en-US" sz="2000" dirty="0">
              <a:latin typeface="Century" panose="02040604050505020304" pitchFamily="18" charset="0"/>
            </a:endParaRPr>
          </a:p>
          <a:p>
            <a:pPr>
              <a:buFont typeface="+mj-lt"/>
              <a:buAutoNum type="arabicPeriod"/>
            </a:pPr>
            <a:r>
              <a:rPr lang="en-US" sz="2000" b="1" u="sng" dirty="0">
                <a:solidFill>
                  <a:srgbClr val="990000"/>
                </a:solidFill>
                <a:latin typeface="Century" panose="02040604050505020304" pitchFamily="18" charset="0"/>
              </a:rPr>
              <a:t>Hypotheses &amp; Results: </a:t>
            </a:r>
            <a:r>
              <a:rPr lang="en-US" sz="2000" dirty="0">
                <a:latin typeface="Century" panose="02040604050505020304" pitchFamily="18" charset="0"/>
              </a:rPr>
              <a:t>Null Hypothesis (H₀): There is no significant difference in OCD severity scores among patients receiving different types of therapy (The groups are equal). </a:t>
            </a:r>
          </a:p>
          <a:p>
            <a:endParaRPr lang="en-US" sz="2000" dirty="0">
              <a:latin typeface="Century" panose="02040604050505020304" pitchFamily="18" charset="0"/>
            </a:endParaRPr>
          </a:p>
          <a:p>
            <a:r>
              <a:rPr lang="en-US" sz="2000" dirty="0">
                <a:latin typeface="Century" panose="02040604050505020304" pitchFamily="18" charset="0"/>
              </a:rPr>
              <a:t>Alternative Hypothesis (H₁): At least one therapy type results in significantly different OCD severity scores compared to the others. </a:t>
            </a:r>
          </a:p>
          <a:p>
            <a:endParaRPr lang="en-US" sz="2000" dirty="0">
              <a:latin typeface="Century" panose="02040604050505020304" pitchFamily="18" charset="0"/>
            </a:endParaRPr>
          </a:p>
          <a:p>
            <a:r>
              <a:rPr lang="en-US" sz="2000" dirty="0">
                <a:latin typeface="Century" panose="02040604050505020304" pitchFamily="18" charset="0"/>
              </a:rPr>
              <a:t>Calculation Result: H-statistic = 210.00, p &lt; 0.001 </a:t>
            </a:r>
          </a:p>
          <a:p>
            <a:endParaRPr lang="en-US" sz="2000" dirty="0">
              <a:latin typeface="Century" panose="02040604050505020304" pitchFamily="18" charset="0"/>
            </a:endParaRPr>
          </a:p>
          <a:p>
            <a:r>
              <a:rPr lang="en-US" sz="2000" dirty="0">
                <a:latin typeface="Century" panose="02040604050505020304" pitchFamily="18" charset="0"/>
              </a:rPr>
              <a:t>Decision: Reject H₀. The difference is highly significant</a:t>
            </a:r>
            <a:r>
              <a:rPr lang="en-US" dirty="0">
                <a:latin typeface="Century" panose="02040604050505020304" pitchFamily="18" charset="0"/>
              </a:rPr>
              <a:t>.</a:t>
            </a:r>
          </a:p>
        </p:txBody>
      </p:sp>
    </p:spTree>
    <p:extLst>
      <p:ext uri="{BB962C8B-B14F-4D97-AF65-F5344CB8AC3E}">
        <p14:creationId xmlns:p14="http://schemas.microsoft.com/office/powerpoint/2010/main" val="2316651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AD242D-209B-4803-A40F-8ED6255791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662" y="252412"/>
            <a:ext cx="10734675" cy="6353175"/>
          </a:xfrm>
          <a:prstGeom prst="rect">
            <a:avLst/>
          </a:prstGeom>
        </p:spPr>
      </p:pic>
    </p:spTree>
    <p:extLst>
      <p:ext uri="{BB962C8B-B14F-4D97-AF65-F5344CB8AC3E}">
        <p14:creationId xmlns:p14="http://schemas.microsoft.com/office/powerpoint/2010/main" val="38371847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BB36C5-D7B3-CD4C-714C-6B2C5AC47F3F}"/>
              </a:ext>
            </a:extLst>
          </p:cNvPr>
          <p:cNvSpPr txBox="1"/>
          <p:nvPr/>
        </p:nvSpPr>
        <p:spPr>
          <a:xfrm>
            <a:off x="280554" y="449732"/>
            <a:ext cx="11045537" cy="6370975"/>
          </a:xfrm>
          <a:prstGeom prst="rect">
            <a:avLst/>
          </a:prstGeom>
          <a:noFill/>
        </p:spPr>
        <p:txBody>
          <a:bodyPr wrap="square">
            <a:spAutoFit/>
          </a:bodyPr>
          <a:lstStyle/>
          <a:p>
            <a:r>
              <a:rPr lang="en-US" sz="2800" b="1" u="sng" dirty="0">
                <a:solidFill>
                  <a:schemeClr val="accent1">
                    <a:lumMod val="50000"/>
                  </a:schemeClr>
                </a:solidFill>
                <a:effectLst/>
                <a:latin typeface="Century" panose="02040604050505020304" pitchFamily="18" charset="0"/>
              </a:rPr>
              <a:t>Pearson Correlation Analysis</a:t>
            </a:r>
            <a:endParaRPr lang="en-US" sz="2800" u="sng" dirty="0">
              <a:solidFill>
                <a:schemeClr val="accent1">
                  <a:lumMod val="50000"/>
                </a:schemeClr>
              </a:solidFill>
              <a:effectLst/>
              <a:latin typeface="Century" panose="02040604050505020304" pitchFamily="18" charset="0"/>
            </a:endParaRPr>
          </a:p>
          <a:p>
            <a:pPr>
              <a:buFont typeface="+mj-lt"/>
              <a:buAutoNum type="arabicPeriod"/>
            </a:pPr>
            <a:r>
              <a:rPr lang="en-US" sz="2000" b="1" u="sng" dirty="0">
                <a:solidFill>
                  <a:srgbClr val="990000"/>
                </a:solidFill>
                <a:latin typeface="Century" panose="02040604050505020304" pitchFamily="18" charset="0"/>
              </a:rPr>
              <a:t>Test Name: </a:t>
            </a:r>
            <a:r>
              <a:rPr lang="en-US" sz="2000" dirty="0">
                <a:latin typeface="Century" panose="02040604050505020304" pitchFamily="18" charset="0"/>
              </a:rPr>
              <a:t>Pearson Correlation Coefficient (r)</a:t>
            </a:r>
          </a:p>
          <a:p>
            <a:pPr>
              <a:buFont typeface="+mj-lt"/>
              <a:buAutoNum type="arabicPeriod"/>
            </a:pPr>
            <a:endParaRPr lang="en-US" sz="2000" dirty="0">
              <a:latin typeface="Century" panose="02040604050505020304" pitchFamily="18" charset="0"/>
            </a:endParaRPr>
          </a:p>
          <a:p>
            <a:pPr>
              <a:buFont typeface="+mj-lt"/>
              <a:buAutoNum type="arabicPeriod"/>
            </a:pPr>
            <a:r>
              <a:rPr lang="en-US" sz="2000" b="1" u="sng" dirty="0">
                <a:solidFill>
                  <a:srgbClr val="990000"/>
                </a:solidFill>
                <a:latin typeface="Century" panose="02040604050505020304" pitchFamily="18" charset="0"/>
              </a:rPr>
              <a:t>Why this is applied: </a:t>
            </a:r>
            <a:r>
              <a:rPr lang="en-US" sz="2000" dirty="0">
                <a:latin typeface="Century" panose="02040604050505020304" pitchFamily="18" charset="0"/>
              </a:rPr>
              <a:t>We use this to measure the strength and direction of the linear relationship between numeric clinical variables. It identifies how closely linked components like "Obsessions" and "Compulsions" are to the "Total Severity" and if "Age" or "Duration" play a role.</a:t>
            </a:r>
          </a:p>
          <a:p>
            <a:pPr>
              <a:buFont typeface="+mj-lt"/>
              <a:buAutoNum type="arabicPeriod"/>
            </a:pPr>
            <a:r>
              <a:rPr lang="en-US" sz="2000" b="1" u="sng" dirty="0">
                <a:solidFill>
                  <a:srgbClr val="990000"/>
                </a:solidFill>
                <a:latin typeface="Century" panose="02040604050505020304" pitchFamily="18" charset="0"/>
              </a:rPr>
              <a:t>Test Components: </a:t>
            </a:r>
            <a:r>
              <a:rPr lang="en-US" sz="2000" dirty="0">
                <a:latin typeface="Century" panose="02040604050505020304" pitchFamily="18" charset="0"/>
              </a:rPr>
              <a:t>Null Hypothesis (H₀): There is no linear relationship between the numeric variables (r = 0).</a:t>
            </a:r>
          </a:p>
          <a:p>
            <a:pPr>
              <a:buFont typeface="+mj-lt"/>
              <a:buAutoNum type="arabicPeriod"/>
            </a:pPr>
            <a:r>
              <a:rPr lang="en-US" sz="2000" dirty="0">
                <a:latin typeface="Century" panose="02040604050505020304" pitchFamily="18" charset="0"/>
              </a:rPr>
              <a:t> Alternative Hypothesis (H₁): There is a significant linear relationship between the variables (r ≠ 0). </a:t>
            </a:r>
          </a:p>
          <a:p>
            <a:r>
              <a:rPr lang="en-US" sz="2000" dirty="0">
                <a:latin typeface="Century" panose="02040604050505020304" pitchFamily="18" charset="0"/>
              </a:rPr>
              <a:t>5.Key Coefficients: </a:t>
            </a:r>
          </a:p>
          <a:p>
            <a:pPr>
              <a:buFont typeface="+mj-lt"/>
              <a:buAutoNum type="arabicPeriod"/>
            </a:pPr>
            <a:r>
              <a:rPr lang="en-US" sz="2000" dirty="0">
                <a:latin typeface="Century" panose="02040604050505020304" pitchFamily="18" charset="0"/>
              </a:rPr>
              <a:t>• Obsessions vs. Total: r = 0.96 </a:t>
            </a:r>
          </a:p>
          <a:p>
            <a:pPr>
              <a:buFont typeface="+mj-lt"/>
              <a:buAutoNum type="arabicPeriod"/>
            </a:pPr>
            <a:r>
              <a:rPr lang="en-US" sz="2000" dirty="0">
                <a:latin typeface="Century" panose="02040604050505020304" pitchFamily="18" charset="0"/>
              </a:rPr>
              <a:t>• Compulsions vs. Total: r = 0.96 </a:t>
            </a:r>
          </a:p>
          <a:p>
            <a:pPr>
              <a:buFont typeface="+mj-lt"/>
              <a:buAutoNum type="arabicPeriod"/>
            </a:pPr>
            <a:r>
              <a:rPr lang="en-US" sz="2000" dirty="0">
                <a:latin typeface="Century" panose="02040604050505020304" pitchFamily="18" charset="0"/>
              </a:rPr>
              <a:t>• Duration vs. Total: r = 0.20</a:t>
            </a:r>
          </a:p>
          <a:p>
            <a:pPr>
              <a:buFont typeface="+mj-lt"/>
              <a:buAutoNum type="arabicPeriod"/>
            </a:pPr>
            <a:endParaRPr lang="en-US" sz="2000" dirty="0">
              <a:latin typeface="Century" panose="02040604050505020304" pitchFamily="18" charset="0"/>
            </a:endParaRPr>
          </a:p>
          <a:p>
            <a:pPr>
              <a:buFont typeface="+mj-lt"/>
              <a:buAutoNum type="arabicPeriod"/>
            </a:pPr>
            <a:r>
              <a:rPr lang="en-US" sz="2000" dirty="0">
                <a:effectLst/>
                <a:latin typeface="Century" panose="02040604050505020304" pitchFamily="18" charset="0"/>
              </a:rPr>
              <a:t>Duration of Symptoms" suggests that OCD severity increases slightly the longer a patient remains </a:t>
            </a:r>
            <a:r>
              <a:rPr lang="en-US" sz="2000" dirty="0" err="1">
                <a:effectLst/>
                <a:latin typeface="Century" panose="02040604050505020304" pitchFamily="18" charset="0"/>
              </a:rPr>
              <a:t>untreated.Age</a:t>
            </a:r>
            <a:r>
              <a:rPr lang="en-US" sz="2000" dirty="0">
                <a:effectLst/>
                <a:latin typeface="Century" panose="02040604050505020304" pitchFamily="18" charset="0"/>
              </a:rPr>
              <a:t> shows near-zero correlation, indicating that OCD severity is not determined by how old the patient is</a:t>
            </a:r>
          </a:p>
          <a:p>
            <a:pPr>
              <a:buFont typeface="+mj-lt"/>
              <a:buAutoNum type="arabicPeriod"/>
            </a:pPr>
            <a:endParaRPr lang="en-US" sz="2000" dirty="0">
              <a:latin typeface="Century" panose="02040604050505020304" pitchFamily="18" charset="0"/>
            </a:endParaRPr>
          </a:p>
        </p:txBody>
      </p:sp>
    </p:spTree>
    <p:extLst>
      <p:ext uri="{BB962C8B-B14F-4D97-AF65-F5344CB8AC3E}">
        <p14:creationId xmlns:p14="http://schemas.microsoft.com/office/powerpoint/2010/main" val="32714919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387B37-76D1-7E96-9A4E-C59A604F95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8927" y="190500"/>
            <a:ext cx="10411691" cy="6477000"/>
          </a:xfrm>
          <a:prstGeom prst="rect">
            <a:avLst/>
          </a:prstGeom>
        </p:spPr>
      </p:pic>
    </p:spTree>
    <p:extLst>
      <p:ext uri="{BB962C8B-B14F-4D97-AF65-F5344CB8AC3E}">
        <p14:creationId xmlns:p14="http://schemas.microsoft.com/office/powerpoint/2010/main" val="3589975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483253-5E99-293F-5313-660E081849A6}"/>
              </a:ext>
            </a:extLst>
          </p:cNvPr>
          <p:cNvSpPr txBox="1"/>
          <p:nvPr/>
        </p:nvSpPr>
        <p:spPr>
          <a:xfrm>
            <a:off x="477457" y="703574"/>
            <a:ext cx="6094070" cy="4585871"/>
          </a:xfrm>
          <a:prstGeom prst="rect">
            <a:avLst/>
          </a:prstGeom>
          <a:noFill/>
        </p:spPr>
        <p:txBody>
          <a:bodyPr wrap="square">
            <a:spAutoFit/>
          </a:bodyPr>
          <a:lstStyle/>
          <a:p>
            <a:r>
              <a:rPr lang="en-US" sz="2800" b="1" dirty="0">
                <a:solidFill>
                  <a:srgbClr val="FF0000"/>
                </a:solidFill>
                <a:latin typeface="Algerian" panose="04020705040A02060702" pitchFamily="82" charset="0"/>
              </a:rPr>
              <a:t>Conclusion</a:t>
            </a:r>
          </a:p>
          <a:p>
            <a:r>
              <a:rPr lang="en-US" sz="2400" dirty="0">
                <a:latin typeface="Century" panose="02040604050505020304" pitchFamily="18" charset="0"/>
              </a:rPr>
              <a:t>OCD severity is primarily driven by Therapy Type, with Combined Therapy showing the best results. Depression acts as a "severity multiplier," significantly increasing patient scores. Additionally, Sleep and Stress are the most critical lifestyle factors, while Age and Gender have no major impact. For recovery, treatment must focus on integrated therapy, depression management, and better sleep hygiene.</a:t>
            </a:r>
          </a:p>
        </p:txBody>
      </p:sp>
    </p:spTree>
    <p:extLst>
      <p:ext uri="{BB962C8B-B14F-4D97-AF65-F5344CB8AC3E}">
        <p14:creationId xmlns:p14="http://schemas.microsoft.com/office/powerpoint/2010/main" val="32459213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TotalTime>
  <Words>1008</Words>
  <Application>Microsoft Office PowerPoint</Application>
  <PresentationFormat>Widescreen</PresentationFormat>
  <Paragraphs>97</Paragraphs>
  <Slides>17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Algerian</vt:lpstr>
      <vt:lpstr>Arial</vt:lpstr>
      <vt:lpstr>Calibri</vt:lpstr>
      <vt:lpstr>Calibri Light</vt:lpstr>
      <vt:lpstr>Century</vt:lpstr>
      <vt:lpstr>Microsoft Himalaya</vt:lpstr>
      <vt:lpstr>Perpetua Titling MT</vt:lpstr>
      <vt:lpstr>Wingdings</vt:lpstr>
      <vt:lpstr>Office Theme</vt:lpstr>
      <vt:lpstr>PowerPoint Presentation</vt:lpstr>
      <vt:lpstr>PowerPoint Presentation</vt:lpstr>
      <vt:lpstr>PowerPoint Presentation</vt:lpstr>
      <vt:lpstr>Impact of Depression on OCD Severity Statistical Test  Mann-Whitney U Test (Non-Parametric)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lenovo</cp:lastModifiedBy>
  <cp:revision>5</cp:revision>
  <dcterms:created xsi:type="dcterms:W3CDTF">2025-12-25T05:24:28Z</dcterms:created>
  <dcterms:modified xsi:type="dcterms:W3CDTF">2026-01-01T03:45:41Z</dcterms:modified>
</cp:coreProperties>
</file>